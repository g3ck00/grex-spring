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5" r:id="rId1"/>
  </p:sldMasterIdLst>
  <p:sldIdLst>
    <p:sldId id="256" r:id="rId2"/>
    <p:sldId id="317" r:id="rId3"/>
    <p:sldId id="257" r:id="rId4"/>
    <p:sldId id="258" r:id="rId5"/>
    <p:sldId id="259" r:id="rId6"/>
    <p:sldId id="260" r:id="rId7"/>
    <p:sldId id="319" r:id="rId8"/>
    <p:sldId id="318" r:id="rId9"/>
    <p:sldId id="320" r:id="rId10"/>
    <p:sldId id="321" r:id="rId11"/>
    <p:sldId id="261" r:id="rId12"/>
    <p:sldId id="322" r:id="rId13"/>
    <p:sldId id="323" r:id="rId14"/>
    <p:sldId id="265" r:id="rId15"/>
    <p:sldId id="266" r:id="rId16"/>
    <p:sldId id="267" r:id="rId17"/>
    <p:sldId id="324" r:id="rId18"/>
    <p:sldId id="270" r:id="rId19"/>
    <p:sldId id="271" r:id="rId20"/>
    <p:sldId id="272" r:id="rId21"/>
    <p:sldId id="273" r:id="rId22"/>
    <p:sldId id="274" r:id="rId23"/>
    <p:sldId id="325" r:id="rId24"/>
    <p:sldId id="276" r:id="rId25"/>
    <p:sldId id="326" r:id="rId26"/>
    <p:sldId id="327" r:id="rId27"/>
    <p:sldId id="328" r:id="rId28"/>
    <p:sldId id="277" r:id="rId29"/>
    <p:sldId id="278" r:id="rId30"/>
    <p:sldId id="329" r:id="rId31"/>
    <p:sldId id="280" r:id="rId32"/>
    <p:sldId id="330" r:id="rId33"/>
    <p:sldId id="331" r:id="rId34"/>
    <p:sldId id="281" r:id="rId35"/>
    <p:sldId id="332" r:id="rId36"/>
    <p:sldId id="333" r:id="rId37"/>
    <p:sldId id="334" r:id="rId38"/>
    <p:sldId id="335" r:id="rId39"/>
    <p:sldId id="336" r:id="rId40"/>
    <p:sldId id="337" r:id="rId41"/>
    <p:sldId id="338" r:id="rId42"/>
    <p:sldId id="283" r:id="rId43"/>
    <p:sldId id="339" r:id="rId44"/>
    <p:sldId id="340" r:id="rId45"/>
    <p:sldId id="341" r:id="rId46"/>
    <p:sldId id="287" r:id="rId47"/>
    <p:sldId id="342" r:id="rId48"/>
    <p:sldId id="343" r:id="rId49"/>
    <p:sldId id="288" r:id="rId50"/>
    <p:sldId id="289" r:id="rId51"/>
    <p:sldId id="344" r:id="rId52"/>
    <p:sldId id="345" r:id="rId53"/>
    <p:sldId id="290" r:id="rId54"/>
    <p:sldId id="346" r:id="rId55"/>
    <p:sldId id="291" r:id="rId56"/>
    <p:sldId id="347" r:id="rId57"/>
    <p:sldId id="348" r:id="rId58"/>
    <p:sldId id="349" r:id="rId59"/>
    <p:sldId id="350" r:id="rId60"/>
    <p:sldId id="351" r:id="rId61"/>
    <p:sldId id="352" r:id="rId62"/>
    <p:sldId id="294" r:id="rId63"/>
    <p:sldId id="353" r:id="rId64"/>
    <p:sldId id="295" r:id="rId65"/>
    <p:sldId id="354" r:id="rId66"/>
    <p:sldId id="355" r:id="rId67"/>
    <p:sldId id="296" r:id="rId68"/>
    <p:sldId id="356" r:id="rId69"/>
    <p:sldId id="357" r:id="rId70"/>
    <p:sldId id="297" r:id="rId71"/>
    <p:sldId id="358" r:id="rId72"/>
    <p:sldId id="298" r:id="rId73"/>
    <p:sldId id="360" r:id="rId74"/>
    <p:sldId id="361" r:id="rId75"/>
    <p:sldId id="362" r:id="rId76"/>
    <p:sldId id="363" r:id="rId77"/>
    <p:sldId id="364" r:id="rId78"/>
    <p:sldId id="301" r:id="rId79"/>
    <p:sldId id="302" r:id="rId80"/>
    <p:sldId id="365" r:id="rId81"/>
    <p:sldId id="367" r:id="rId82"/>
    <p:sldId id="366" r:id="rId83"/>
    <p:sldId id="368" r:id="rId84"/>
    <p:sldId id="369" r:id="rId85"/>
    <p:sldId id="371" r:id="rId86"/>
    <p:sldId id="372" r:id="rId87"/>
    <p:sldId id="374" r:id="rId88"/>
    <p:sldId id="375" r:id="rId89"/>
    <p:sldId id="376" r:id="rId90"/>
    <p:sldId id="303" r:id="rId91"/>
    <p:sldId id="377" r:id="rId92"/>
    <p:sldId id="305" r:id="rId9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631207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39977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27094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94381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019818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66388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74650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18008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93245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500580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5216171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5022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55674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4283096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268841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59303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842274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EEB16-D021-4838-8546-BAF457A433CC}" type="datetimeFigureOut">
              <a:rPr lang="es-EC" smtClean="0"/>
              <a:t>14/6/2026</a:t>
            </a:fld>
            <a:endParaRPr lang="es-EC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A220D9-7B88-43D5-A651-A623C2DEC0DF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41176389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  <p:sldLayoutId id="2147484007" r:id="rId12"/>
    <p:sldLayoutId id="2147484008" r:id="rId13"/>
    <p:sldLayoutId id="2147484009" r:id="rId14"/>
    <p:sldLayoutId id="2147484010" r:id="rId15"/>
    <p:sldLayoutId id="2147484011" r:id="rId16"/>
    <p:sldLayoutId id="214748401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0C3C8E-CD7A-0A3C-2C25-1282CCA9F8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Módulo II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50E36E-65BB-19D3-2CB2-5ADD80E0FB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Por Bryant Escalante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154263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487DE-8B13-CC5A-16E0-29A191A1D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04D983-0998-EE63-7AEA-9887A6FEFB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/>
          <a:lstStyle/>
          <a:p>
            <a:r>
              <a:rPr lang="es-ES" dirty="0" err="1"/>
              <a:t>Optional</a:t>
            </a:r>
            <a:r>
              <a:rPr lang="es-ES" dirty="0"/>
              <a:t> en java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2DE174-89F8-51D5-3D55-A5ECBD3AD6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831758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528DEC-CE3F-CDE3-7893-9A9671AE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Optional</a:t>
            </a:r>
            <a:r>
              <a:rPr lang="es-ES" dirty="0"/>
              <a:t> en Java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EE6480-16E4-BFDC-9B43-F26CB3F22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 err="1"/>
              <a:t>Optional</a:t>
            </a:r>
            <a:r>
              <a:rPr lang="es-ES" sz="2400" dirty="0"/>
              <a:t> se introduce en Java 8 como una forma de representar explícitamente valores que pueden existir o no. Su objetivo es mejorar la claridad del código y evitar ambigüedades al trabajar con retornos de métodos.</a:t>
            </a:r>
            <a:endParaRPr lang="es-EC" sz="2400" dirty="0"/>
          </a:p>
        </p:txBody>
      </p:sp>
    </p:spTree>
    <p:extLst>
      <p:ext uri="{BB962C8B-B14F-4D97-AF65-F5344CB8AC3E}">
        <p14:creationId xmlns:p14="http://schemas.microsoft.com/office/powerpoint/2010/main" val="2794399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1CFF-DD53-A467-E21D-A058B9787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323A1E-E904-16E6-EC88-3FDDA128D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Optional</a:t>
            </a:r>
            <a:r>
              <a:rPr lang="es-ES" dirty="0"/>
              <a:t> en Java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601B61-0955-BB21-8E90-CFEFA1BA0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El problema clásico en Java es el uso de </a:t>
            </a:r>
            <a:r>
              <a:rPr lang="es-ES" sz="2400" dirty="0" err="1"/>
              <a:t>null</a:t>
            </a:r>
            <a:r>
              <a:rPr lang="es-ES" sz="2400" dirty="0"/>
              <a:t>, que puede provocar </a:t>
            </a:r>
            <a:r>
              <a:rPr lang="es-ES" sz="2400" dirty="0" err="1"/>
              <a:t>NullPointerException</a:t>
            </a:r>
            <a:r>
              <a:rPr lang="es-ES" sz="2400" dirty="0"/>
              <a:t> cuando se accede a objetos sin verificar su existencia. Esto hace que los errores aparezcan en tiempo de ejecución de forma inesperada.</a:t>
            </a:r>
          </a:p>
        </p:txBody>
      </p:sp>
    </p:spTree>
    <p:extLst>
      <p:ext uri="{BB962C8B-B14F-4D97-AF65-F5344CB8AC3E}">
        <p14:creationId xmlns:p14="http://schemas.microsoft.com/office/powerpoint/2010/main" val="2023793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E4B24-4667-78E0-403F-260B47C15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75A718-90CC-350A-AA56-3E8C5797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Optional</a:t>
            </a:r>
            <a:r>
              <a:rPr lang="es-ES" dirty="0"/>
              <a:t> en java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B7D7AA-3209-97C4-4B8B-6A16531C77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 err="1"/>
              <a:t>Optional</a:t>
            </a:r>
            <a:r>
              <a:rPr lang="es-ES" sz="2400" dirty="0"/>
              <a:t> funciona como un contenedor que puede estar vacío o contener un valor. En lugar de devolver </a:t>
            </a:r>
            <a:r>
              <a:rPr lang="es-ES" sz="2400" dirty="0" err="1"/>
              <a:t>null</a:t>
            </a:r>
            <a:r>
              <a:rPr lang="es-ES" sz="2400" dirty="0"/>
              <a:t>, se puede usar </a:t>
            </a:r>
            <a:r>
              <a:rPr lang="es-ES" sz="2400" dirty="0" err="1"/>
              <a:t>Optional.empty</a:t>
            </a:r>
            <a:r>
              <a:rPr lang="es-ES" sz="2400" dirty="0"/>
              <a:t>, </a:t>
            </a:r>
            <a:r>
              <a:rPr lang="es-ES" sz="2400" dirty="0" err="1"/>
              <a:t>Optional.of</a:t>
            </a:r>
            <a:r>
              <a:rPr lang="es-ES" sz="2400" dirty="0"/>
              <a:t> o </a:t>
            </a:r>
            <a:r>
              <a:rPr lang="es-ES" sz="2400" dirty="0" err="1"/>
              <a:t>Optional.ofNullable</a:t>
            </a:r>
            <a:r>
              <a:rPr lang="es-ES" sz="2400" dirty="0"/>
              <a:t> para indicar claramente el estado del dato.</a:t>
            </a:r>
          </a:p>
        </p:txBody>
      </p:sp>
    </p:spTree>
    <p:extLst>
      <p:ext uri="{BB962C8B-B14F-4D97-AF65-F5344CB8AC3E}">
        <p14:creationId xmlns:p14="http://schemas.microsoft.com/office/powerpoint/2010/main" val="3423253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4C859-43F9-0BD7-4661-DD5ECBCA9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F08FD9-28EA-F2F0-BF87-0CB58D3D2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Optional</a:t>
            </a:r>
            <a:r>
              <a:rPr lang="es-ES" dirty="0"/>
              <a:t> en java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E981BE-3931-8BF6-54C3-FABCEF2C4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Sus métodos permiten manejar el valor de forma segura, como </a:t>
            </a:r>
            <a:r>
              <a:rPr lang="es-ES" sz="2400" dirty="0" err="1"/>
              <a:t>isPresent</a:t>
            </a:r>
            <a:r>
              <a:rPr lang="es-ES" sz="2400" dirty="0"/>
              <a:t>, </a:t>
            </a:r>
            <a:r>
              <a:rPr lang="es-ES" sz="2400" dirty="0" err="1"/>
              <a:t>ifPresent</a:t>
            </a:r>
            <a:r>
              <a:rPr lang="es-ES" sz="2400" dirty="0"/>
              <a:t>, </a:t>
            </a:r>
            <a:r>
              <a:rPr lang="es-ES" sz="2400" dirty="0" err="1"/>
              <a:t>get</a:t>
            </a:r>
            <a:r>
              <a:rPr lang="es-ES" sz="2400" dirty="0"/>
              <a:t> o </a:t>
            </a:r>
            <a:r>
              <a:rPr lang="es-ES" sz="2400" dirty="0" err="1"/>
              <a:t>orElse</a:t>
            </a:r>
            <a:r>
              <a:rPr lang="es-ES" sz="2400" dirty="0"/>
              <a:t>. Así se evita el acceso directo inseguro y se reduce el riesgo de errores por valores nulos.</a:t>
            </a:r>
          </a:p>
        </p:txBody>
      </p:sp>
    </p:spTree>
    <p:extLst>
      <p:ext uri="{BB962C8B-B14F-4D97-AF65-F5344CB8AC3E}">
        <p14:creationId xmlns:p14="http://schemas.microsoft.com/office/powerpoint/2010/main" val="3942378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93372-D275-6371-433F-A10D88EFB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269C8-CE49-6FD5-170A-D84B81CBC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sz="4000" dirty="0"/>
              <a:t>Conexión a base de datos</a:t>
            </a:r>
            <a:endParaRPr lang="es-EC" sz="4000" dirty="0"/>
          </a:p>
        </p:txBody>
      </p:sp>
    </p:spTree>
    <p:extLst>
      <p:ext uri="{BB962C8B-B14F-4D97-AF65-F5344CB8AC3E}">
        <p14:creationId xmlns:p14="http://schemas.microsoft.com/office/powerpoint/2010/main" val="934714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10D5-C5EC-D2B7-1222-D31F9C59F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B97081-9F83-C17B-5BAA-4DCF80390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Conexión a base de datos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55BADC-011C-1E57-A808-CF2798042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Para conectar PostgreSQL con Spring Boot, primero se configura la URL de la base de datos local, junto con el nombre de la base, usuario y contraseña dentro del archivo </a:t>
            </a:r>
            <a:r>
              <a:rPr lang="es-ES" sz="2400" dirty="0" err="1"/>
              <a:t>application.properties</a:t>
            </a:r>
            <a:r>
              <a:rPr lang="es-ES" sz="2400" dirty="0"/>
              <a:t>. Esta configuración permite que la aplicación pueda comunicarse directamente con la base de datos.</a:t>
            </a:r>
            <a:endParaRPr lang="es-EC" sz="2400" dirty="0"/>
          </a:p>
        </p:txBody>
      </p:sp>
    </p:spTree>
    <p:extLst>
      <p:ext uri="{BB962C8B-B14F-4D97-AF65-F5344CB8AC3E}">
        <p14:creationId xmlns:p14="http://schemas.microsoft.com/office/powerpoint/2010/main" val="2478632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E0D41-B8E9-4A6B-D2A2-30BBDFF88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6ECAC5-7C23-951E-874A-CBE1DAED4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Conexión a base de datos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187DC2-FDE4-A4BF-07B1-19926F9C99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Dentro de la configuración también se define el comportamiento de generación de la estructura de la base de datos mediante </a:t>
            </a:r>
            <a:r>
              <a:rPr lang="es-ES" sz="2400" dirty="0" err="1"/>
              <a:t>Hibernate</a:t>
            </a:r>
            <a:r>
              <a:rPr lang="es-ES" sz="2400" dirty="0"/>
              <a:t>. Aquí entra el parámetro </a:t>
            </a:r>
            <a:r>
              <a:rPr lang="es-ES" sz="2400" dirty="0" err="1"/>
              <a:t>spring.jpa.hibernate.ddl</a:t>
            </a:r>
            <a:r>
              <a:rPr lang="es-ES" sz="2400" dirty="0"/>
              <a:t>-auto, que controla cómo se crean, validan o actualizan las tablas automáticamente al ejecutar el proyecto.</a:t>
            </a:r>
            <a:endParaRPr lang="es-EC" sz="2400" dirty="0"/>
          </a:p>
        </p:txBody>
      </p:sp>
    </p:spTree>
    <p:extLst>
      <p:ext uri="{BB962C8B-B14F-4D97-AF65-F5344CB8AC3E}">
        <p14:creationId xmlns:p14="http://schemas.microsoft.com/office/powerpoint/2010/main" val="3712716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E45DC-6ECC-8698-B76D-E70238FB4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0DBFB-4599-17D3-666F-D4B70EC6C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Conexión a base de datos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D35370-AB86-5CF8-3422-C9D15579F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En desarrollo suele usarse </a:t>
            </a:r>
            <a:r>
              <a:rPr lang="es-ES" sz="2400" dirty="0" err="1"/>
              <a:t>update</a:t>
            </a:r>
            <a:r>
              <a:rPr lang="es-ES" sz="2400" dirty="0"/>
              <a:t> para agilizar cambios, mientras que en producción se prefieren opciones más seguras como </a:t>
            </a:r>
            <a:r>
              <a:rPr lang="es-ES" sz="2400" dirty="0" err="1"/>
              <a:t>none</a:t>
            </a:r>
            <a:r>
              <a:rPr lang="es-ES" sz="2400" dirty="0"/>
              <a:t> o </a:t>
            </a:r>
            <a:r>
              <a:rPr lang="es-ES" sz="2400" dirty="0" err="1"/>
              <a:t>validate</a:t>
            </a:r>
            <a:r>
              <a:rPr lang="es-ES" sz="2400" dirty="0"/>
              <a:t>.</a:t>
            </a:r>
            <a:endParaRPr lang="es-EC" sz="2400" dirty="0"/>
          </a:p>
        </p:txBody>
      </p:sp>
    </p:spTree>
    <p:extLst>
      <p:ext uri="{BB962C8B-B14F-4D97-AF65-F5344CB8AC3E}">
        <p14:creationId xmlns:p14="http://schemas.microsoft.com/office/powerpoint/2010/main" val="485602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996B5-EB5C-4BCD-2BFB-879BC2550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872405-AB71-8654-8817-ECBAED5EF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Conexión a base de datos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D90D18-C84B-6938-9E0D-2EB7959CE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La abstracción consiste en definir qué debe existir sin especificar cómo se implementará.</a:t>
            </a:r>
          </a:p>
          <a:p>
            <a:r>
              <a:rPr lang="es-ES" sz="2400" dirty="0"/>
              <a:t>Ejemplo: </a:t>
            </a:r>
            <a:r>
              <a:rPr lang="es-ES" sz="2400" dirty="0" err="1"/>
              <a:t>abstract</a:t>
            </a:r>
            <a:r>
              <a:rPr lang="es-ES" sz="2400" dirty="0"/>
              <a:t> </a:t>
            </a:r>
            <a:r>
              <a:rPr lang="es-ES" sz="2400" dirty="0" err="1"/>
              <a:t>void</a:t>
            </a:r>
            <a:r>
              <a:rPr lang="es-ES" sz="2400" dirty="0"/>
              <a:t> </a:t>
            </a:r>
            <a:r>
              <a:rPr lang="es-ES" sz="2400" dirty="0" err="1"/>
              <a:t>showCargoDescription</a:t>
            </a:r>
            <a:r>
              <a:rPr lang="es-ES" sz="24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242574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DA979-9F59-2BEB-79F9-5AF5F8E64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2AD277-E8FA-E5A0-E605-88713BC76A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sz="2800" dirty="0"/>
              <a:t>Conexión a múltiples bases de datos</a:t>
            </a:r>
            <a:endParaRPr lang="es-EC" sz="2800" dirty="0"/>
          </a:p>
        </p:txBody>
      </p:sp>
    </p:spTree>
    <p:extLst>
      <p:ext uri="{BB962C8B-B14F-4D97-AF65-F5344CB8AC3E}">
        <p14:creationId xmlns:p14="http://schemas.microsoft.com/office/powerpoint/2010/main" val="2797473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F61DE-502E-811A-FF2E-60226A75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3F64EF-5EEF-68E1-1D2E-BAC680ACC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Conexión a múltiples bases de datos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46F44A-2AD9-D433-7EEE-82EEB4505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Para ello se utiliza Spring </a:t>
            </a:r>
            <a:r>
              <a:rPr lang="es-ES" sz="2400" dirty="0" err="1"/>
              <a:t>Initializr</a:t>
            </a:r>
            <a:r>
              <a:rPr lang="es-ES" sz="2400" dirty="0"/>
              <a:t>, donde se genera un proyecto con dependencias como Spring Web, JPA y los drivers de los respectivos motores de base de datos (por ejemplo, PostgreSQL y SQL Server).</a:t>
            </a:r>
          </a:p>
        </p:txBody>
      </p:sp>
    </p:spTree>
    <p:extLst>
      <p:ext uri="{BB962C8B-B14F-4D97-AF65-F5344CB8AC3E}">
        <p14:creationId xmlns:p14="http://schemas.microsoft.com/office/powerpoint/2010/main" val="2190300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B9A9C1-0BB5-C0FC-B024-733390C7E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71BC08-C25D-CC7D-DE71-6C458B512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Conexión a múltiples bases de datos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3345D5C-D7ED-70FE-3DA1-84C32629C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Cada base de datos requiere su propia configuración dentro de </a:t>
            </a:r>
            <a:r>
              <a:rPr lang="es-ES" sz="2400" dirty="0" err="1"/>
              <a:t>application.properties</a:t>
            </a:r>
            <a:r>
              <a:rPr lang="es-ES" sz="2400" dirty="0"/>
              <a:t>, incluyendo URL de conexión, usuario, contraseña y driver. Además, se define el dialecto de </a:t>
            </a:r>
            <a:r>
              <a:rPr lang="es-ES" sz="2400" dirty="0" err="1"/>
              <a:t>Hibernate</a:t>
            </a:r>
            <a:r>
              <a:rPr lang="es-ES" sz="2400" dirty="0"/>
              <a:t> para que cada motor de base de datos interprete correctamente las consultas.</a:t>
            </a:r>
          </a:p>
        </p:txBody>
      </p:sp>
    </p:spTree>
    <p:extLst>
      <p:ext uri="{BB962C8B-B14F-4D97-AF65-F5344CB8AC3E}">
        <p14:creationId xmlns:p14="http://schemas.microsoft.com/office/powerpoint/2010/main" val="3024608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8623A-19C0-426C-9F28-151E1F7EF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D2348D-E9F0-01B0-CAD5-C93F65B6E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Conexión a múltiples bases de datos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861338-B2C0-F035-7E22-ED8C58432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La estructura del proyecto se organiza separando paquetes para entidades y repositorios de cada base de datos. Así, cada fuente de datos tiene sus propias clases </a:t>
            </a:r>
            <a:r>
              <a:rPr lang="es-ES" sz="2400" dirty="0" err="1"/>
              <a:t>Entity</a:t>
            </a:r>
            <a:r>
              <a:rPr lang="es-ES" sz="2400" dirty="0"/>
              <a:t> y sus interfaces de acceso mediante </a:t>
            </a:r>
            <a:r>
              <a:rPr lang="es-ES" sz="2400" dirty="0" err="1"/>
              <a:t>JpaRepository</a:t>
            </a:r>
            <a:r>
              <a:rPr lang="es-ES" sz="2400" dirty="0"/>
              <a:t>, evitando conflictos entre modelos.</a:t>
            </a:r>
          </a:p>
        </p:txBody>
      </p:sp>
    </p:spTree>
    <p:extLst>
      <p:ext uri="{BB962C8B-B14F-4D97-AF65-F5344CB8AC3E}">
        <p14:creationId xmlns:p14="http://schemas.microsoft.com/office/powerpoint/2010/main" val="2259533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E112E-5B62-0209-F175-4D58AA3E3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CA27FF-4CAA-033E-E0F4-300B28E7A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Conexión a múltiples bases de datos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E07834-D33F-8C6D-E790-744DA3FF9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Se crean configuraciones independientes para cada base de datos, incluyendo </a:t>
            </a:r>
            <a:r>
              <a:rPr lang="es-ES" sz="2400" dirty="0" err="1"/>
              <a:t>DataSource</a:t>
            </a:r>
            <a:r>
              <a:rPr lang="es-ES" sz="2400" dirty="0"/>
              <a:t>, </a:t>
            </a:r>
            <a:r>
              <a:rPr lang="es-ES" sz="2400" dirty="0" err="1"/>
              <a:t>EntityManagerFactory</a:t>
            </a:r>
            <a:r>
              <a:rPr lang="es-ES" sz="2400" dirty="0"/>
              <a:t> y </a:t>
            </a:r>
            <a:r>
              <a:rPr lang="es-ES" sz="2400" dirty="0" err="1"/>
              <a:t>TransactionManager</a:t>
            </a:r>
            <a:r>
              <a:rPr lang="es-ES" sz="2400" dirty="0"/>
              <a:t>. Esto permite que Spring gestione transacciones y conexiones de forma aislada para PostgreSQL y SQL Server dentro del mismo proyecto.</a:t>
            </a:r>
          </a:p>
        </p:txBody>
      </p:sp>
    </p:spTree>
    <p:extLst>
      <p:ext uri="{BB962C8B-B14F-4D97-AF65-F5344CB8AC3E}">
        <p14:creationId xmlns:p14="http://schemas.microsoft.com/office/powerpoint/2010/main" val="34802636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E02E2-9CEF-5643-F546-119072AF8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23873D-7E42-6262-DE47-997F83D9AE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Sobre </a:t>
            </a:r>
            <a:r>
              <a:rPr lang="es-ES" dirty="0" err="1"/>
              <a:t>orm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104480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E0639-DCA7-8442-ACA6-FFCC6CE5D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6236B-1055-F9F6-2471-55D71171D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orm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DFF301-68E3-3DE4-2F6C-47DC3A677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El acceso a datos en Spring Boot puede realizarse mediante distintas capas de abstracción, desde JDBC hasta JPA. </a:t>
            </a:r>
          </a:p>
          <a:p>
            <a:r>
              <a:rPr lang="es-ES" sz="2400" dirty="0"/>
              <a:t>JDBC trabaja a bajo nivel con conexiones y consultas directas, mientras que JPA introduce un enfoque orientado a objetos donde las entidades representan tablas de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10042904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983B7-DEC5-2D03-6708-6AB435EE0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F74D94-FAE5-BD6C-F6D8-20D3F4C19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orm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9C897E-D0F1-E9FD-531E-8FC38B48D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Spring Data simplifica aún más este proceso al ofrecer repositorios que eliminan gran parte del código repetitivo. A través de interfaces como </a:t>
            </a:r>
            <a:r>
              <a:rPr lang="es-ES" sz="2400" dirty="0" err="1"/>
              <a:t>JpaRepository</a:t>
            </a:r>
            <a:r>
              <a:rPr lang="es-ES" sz="2400" dirty="0"/>
              <a:t>, se obtienen operaciones CRUD automáticas, paginación y ordenación sin necesidad de implementación manual.</a:t>
            </a:r>
          </a:p>
        </p:txBody>
      </p:sp>
    </p:spTree>
    <p:extLst>
      <p:ext uri="{BB962C8B-B14F-4D97-AF65-F5344CB8AC3E}">
        <p14:creationId xmlns:p14="http://schemas.microsoft.com/office/powerpoint/2010/main" val="3459729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7FDF4-FCC9-B527-15A4-0278E2ECD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F5E5F-7DBE-56D2-2826-629FFE756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orm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16103B-86D7-3E95-E246-A05C2A8E6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Una de las ventajas clave es la generación automática de consultas a partir del nombre de los métodos, lo que permite escribir lógica como </a:t>
            </a:r>
            <a:r>
              <a:rPr lang="es-ES" sz="2400" dirty="0" err="1"/>
              <a:t>findByName</a:t>
            </a:r>
            <a:r>
              <a:rPr lang="es-ES" sz="2400" dirty="0"/>
              <a:t> sin definir SQL explícito.</a:t>
            </a:r>
          </a:p>
        </p:txBody>
      </p:sp>
    </p:spTree>
    <p:extLst>
      <p:ext uri="{BB962C8B-B14F-4D97-AF65-F5344CB8AC3E}">
        <p14:creationId xmlns:p14="http://schemas.microsoft.com/office/powerpoint/2010/main" val="1047802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9746E-3838-1F96-C8DB-66EB7AF90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16FEED-7E7B-EB97-F8E8-1F003A16C7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orm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EDA4A1-1044-A0AE-C1CE-4679F2762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Las transacciones también se manejan de forma integrada en Spring. Con anotaciones como @Transactional, se garantiza la consistencia de operaciones múltiples, asegurando que si una falla, todas se revierten automáticamente.</a:t>
            </a:r>
          </a:p>
        </p:txBody>
      </p:sp>
    </p:spTree>
    <p:extLst>
      <p:ext uri="{BB962C8B-B14F-4D97-AF65-F5344CB8AC3E}">
        <p14:creationId xmlns:p14="http://schemas.microsoft.com/office/powerpoint/2010/main" val="3388942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19D42-90A4-0FFF-20C5-771833C4F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D845-3799-4EEA-0B17-193090578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orm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6AB25A-79EF-9352-6709-D540D7976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En el ecosistema Java, JPA es la especificación que define el mapeo objeto-relacional, mientras que </a:t>
            </a:r>
            <a:r>
              <a:rPr lang="es-ES" sz="2400" dirty="0" err="1"/>
              <a:t>Hibernate</a:t>
            </a:r>
            <a:r>
              <a:rPr lang="es-ES" sz="2400" dirty="0"/>
              <a:t> es una de sus implementaciones más populares. </a:t>
            </a:r>
            <a:r>
              <a:rPr lang="es-ES" sz="2400" dirty="0" err="1"/>
              <a:t>Hibernate</a:t>
            </a:r>
            <a:r>
              <a:rPr lang="es-ES" sz="2400" dirty="0"/>
              <a:t> ejecuta ese mapeo y traduce las entidades Java a operaciones SQL de forma automática.</a:t>
            </a:r>
          </a:p>
        </p:txBody>
      </p:sp>
    </p:spTree>
    <p:extLst>
      <p:ext uri="{BB962C8B-B14F-4D97-AF65-F5344CB8AC3E}">
        <p14:creationId xmlns:p14="http://schemas.microsoft.com/office/powerpoint/2010/main" val="1017121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C8443-3C02-3F8E-F0E8-3586E0720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8E22F-5F2A-C7AC-7CDD-BF15DEBB2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Sobre </a:t>
            </a:r>
            <a:r>
              <a:rPr lang="es-ES" dirty="0" err="1"/>
              <a:t>pojos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755437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FF90D-7C75-0F36-C062-38212DCE2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E6CD2-A060-38E8-9BCB-28DE1898E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pojos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B12458-343C-FB24-E67E-E0F48FB25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Un POJO en Java es una clase simple que representa un objeto de negocio sin depender de </a:t>
            </a:r>
            <a:r>
              <a:rPr lang="es-ES" sz="2400" dirty="0" err="1"/>
              <a:t>frameworks</a:t>
            </a:r>
            <a:r>
              <a:rPr lang="es-ES" sz="2400" dirty="0"/>
              <a:t> ni interfaces especiales. </a:t>
            </a:r>
          </a:p>
          <a:p>
            <a:r>
              <a:rPr lang="es-ES" sz="2400" dirty="0"/>
              <a:t>Su objetivo es mantener la estructura del modelo lo más limpia y reutilizable posible.</a:t>
            </a:r>
          </a:p>
        </p:txBody>
      </p:sp>
    </p:spTree>
    <p:extLst>
      <p:ext uri="{BB962C8B-B14F-4D97-AF65-F5344CB8AC3E}">
        <p14:creationId xmlns:p14="http://schemas.microsoft.com/office/powerpoint/2010/main" val="2322637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6DD8B-8E49-C5E6-C84A-78A5877F8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F6445F-D6D3-6887-B049-D8DB3C299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pojos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E4E5F6-AEDE-16D9-1736-3BCB73FDC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Con la aparición de </a:t>
            </a:r>
            <a:r>
              <a:rPr lang="es-ES" sz="2400" dirty="0" err="1"/>
              <a:t>Hibernate</a:t>
            </a:r>
            <a:r>
              <a:rPr lang="es-ES" sz="2400" dirty="0"/>
              <a:t>, se popularizó el uso de clases Java normales para persistencia de datos. Esto permitió mapear objetos directamente a la base de datos sin estructuras rígidas, dando origen al concepto de POJO.</a:t>
            </a:r>
          </a:p>
        </p:txBody>
      </p:sp>
    </p:spTree>
    <p:extLst>
      <p:ext uri="{BB962C8B-B14F-4D97-AF65-F5344CB8AC3E}">
        <p14:creationId xmlns:p14="http://schemas.microsoft.com/office/powerpoint/2010/main" val="423364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78E21-C30B-5489-E2CD-203116FC0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9BECB-A8C7-A8B1-F8F1-B826C2F46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pojos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4AD763-A6B9-59AA-E846-92944399A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El enfoque evolucionó hacia JPA, que formalizó esta idea dentro del estándar Java. A partir de aquí, el modelo basado en </a:t>
            </a:r>
            <a:r>
              <a:rPr lang="es-ES" sz="2400" dirty="0" err="1"/>
              <a:t>POJOs</a:t>
            </a:r>
            <a:r>
              <a:rPr lang="es-ES" sz="2400" dirty="0"/>
              <a:t> se convirtió en la base de </a:t>
            </a:r>
            <a:r>
              <a:rPr lang="es-ES" sz="2400" dirty="0" err="1"/>
              <a:t>frameworks</a:t>
            </a:r>
            <a:r>
              <a:rPr lang="es-ES" sz="2400" dirty="0"/>
              <a:t> modernos de persistencia.</a:t>
            </a:r>
          </a:p>
        </p:txBody>
      </p:sp>
    </p:spTree>
    <p:extLst>
      <p:ext uri="{BB962C8B-B14F-4D97-AF65-F5344CB8AC3E}">
        <p14:creationId xmlns:p14="http://schemas.microsoft.com/office/powerpoint/2010/main" val="1589617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B517F-F044-743C-CB17-ADD813738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5BD8A-9FD8-3DE1-14F0-CFB9FAAF8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pojos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D110B5-AC74-BE8F-7719-49FC4CEB0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Un POJO típico contiene atributos privados, métodos </a:t>
            </a:r>
            <a:r>
              <a:rPr lang="es-ES" sz="2400" dirty="0" err="1"/>
              <a:t>getters</a:t>
            </a:r>
            <a:r>
              <a:rPr lang="es-ES" sz="2400" dirty="0"/>
              <a:t> y </a:t>
            </a:r>
            <a:r>
              <a:rPr lang="es-ES" sz="2400" dirty="0" err="1"/>
              <a:t>setters</a:t>
            </a:r>
            <a:r>
              <a:rPr lang="es-ES" sz="2400" dirty="0"/>
              <a:t>, y un constructor por defecto. Esta simplicidad permite que sea compatible con múltiples </a:t>
            </a:r>
            <a:r>
              <a:rPr lang="es-ES" sz="2400" dirty="0" err="1"/>
              <a:t>frameworks</a:t>
            </a:r>
            <a:r>
              <a:rPr lang="es-ES" sz="2400" dirty="0"/>
              <a:t> como Spring o </a:t>
            </a:r>
            <a:r>
              <a:rPr lang="es-ES" sz="2400" dirty="0" err="1"/>
              <a:t>Hibernate</a:t>
            </a:r>
            <a:r>
              <a:rPr lang="es-ES" sz="2400" dirty="0"/>
              <a:t> sin modificaciones adicionales.</a:t>
            </a:r>
          </a:p>
        </p:txBody>
      </p:sp>
    </p:spTree>
    <p:extLst>
      <p:ext uri="{BB962C8B-B14F-4D97-AF65-F5344CB8AC3E}">
        <p14:creationId xmlns:p14="http://schemas.microsoft.com/office/powerpoint/2010/main" val="26413606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5F9C7-7140-4014-CA51-FB6D56B5B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568B08-4487-CDDC-2439-FDA24B139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dto</a:t>
            </a:r>
            <a:r>
              <a:rPr lang="es-ES" dirty="0"/>
              <a:t> y </a:t>
            </a:r>
            <a:r>
              <a:rPr lang="es-ES" dirty="0" err="1"/>
              <a:t>mapstruct</a:t>
            </a:r>
            <a:endParaRPr lang="es-EC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FA2D4B0-4FE9-EFA5-BA18-506BA2C926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29082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67593-1432-2CE4-C33D-3F5AC4623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BD0E2-246B-9C94-A035-1E0006EB9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dto</a:t>
            </a:r>
            <a:r>
              <a:rPr lang="es-ES" dirty="0"/>
              <a:t> y </a:t>
            </a:r>
            <a:r>
              <a:rPr lang="es-ES" dirty="0" err="1"/>
              <a:t>mapstruct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410658-7C83-6861-9779-654E649E9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Cuando una API expone directamente entidades de base de datos, puede terminar enviando demasiada información al cliente, incluyendo datos innecesarios o sensibles. Esto afecta rendimiento y seguridad.</a:t>
            </a:r>
          </a:p>
        </p:txBody>
      </p:sp>
    </p:spTree>
    <p:extLst>
      <p:ext uri="{BB962C8B-B14F-4D97-AF65-F5344CB8AC3E}">
        <p14:creationId xmlns:p14="http://schemas.microsoft.com/office/powerpoint/2010/main" val="13791189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32FEA-58B5-2055-D246-67920ED5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3CFA4D-A55B-5722-266F-582A46AA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dto</a:t>
            </a:r>
            <a:r>
              <a:rPr lang="es-ES" dirty="0"/>
              <a:t> y </a:t>
            </a:r>
            <a:r>
              <a:rPr lang="es-ES" dirty="0" err="1"/>
              <a:t>mapstruct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B17CB8F-4194-3D87-0F8D-094EE93129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El DTO permite definir objetos de transferencia más simples, que solo incluyen los datos necesarios para la respuesta. Así se desacopla la capa de dominio de la capa de presentación.</a:t>
            </a:r>
          </a:p>
        </p:txBody>
      </p:sp>
    </p:spTree>
    <p:extLst>
      <p:ext uri="{BB962C8B-B14F-4D97-AF65-F5344CB8AC3E}">
        <p14:creationId xmlns:p14="http://schemas.microsoft.com/office/powerpoint/2010/main" val="337669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E58EF-14B6-A4B6-41CE-5EC7898C4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B4550D-98EE-BA38-0037-C84C1A2A6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dto</a:t>
            </a:r>
            <a:r>
              <a:rPr lang="es-ES" dirty="0"/>
              <a:t> y </a:t>
            </a:r>
            <a:r>
              <a:rPr lang="es-ES" dirty="0" err="1"/>
              <a:t>mapstruct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70235A-5918-FC4C-CD75-C2544C637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Para convertir entre entidades y </a:t>
            </a:r>
            <a:r>
              <a:rPr lang="es-ES" sz="2400" dirty="0" err="1"/>
              <a:t>DTOs</a:t>
            </a:r>
            <a:r>
              <a:rPr lang="es-ES" sz="2400" dirty="0"/>
              <a:t> se usan </a:t>
            </a:r>
            <a:r>
              <a:rPr lang="es-ES" sz="2400" dirty="0" err="1"/>
              <a:t>mappers</a:t>
            </a:r>
            <a:r>
              <a:rPr lang="es-ES" sz="2400" dirty="0"/>
              <a:t>. </a:t>
            </a:r>
          </a:p>
          <a:p>
            <a:r>
              <a:rPr lang="es-ES" sz="2400" dirty="0"/>
              <a:t>Herramientas como </a:t>
            </a:r>
            <a:r>
              <a:rPr lang="es-ES" sz="2400" dirty="0" err="1"/>
              <a:t>MapStruct</a:t>
            </a:r>
            <a:r>
              <a:rPr lang="es-ES" sz="2400" dirty="0"/>
              <a:t> evitan el mapeo manual y generan código automáticamente, reduciendo errores y mejorando rendimiento al trabajar en tiempo de compilación en lugar de reflexión.</a:t>
            </a:r>
          </a:p>
        </p:txBody>
      </p:sp>
    </p:spTree>
    <p:extLst>
      <p:ext uri="{BB962C8B-B14F-4D97-AF65-F5344CB8AC3E}">
        <p14:creationId xmlns:p14="http://schemas.microsoft.com/office/powerpoint/2010/main" val="6513042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C85D3-ADB4-A334-0601-45157D732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487A3-BA41-3584-41D1-0EC78672C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dto</a:t>
            </a:r>
            <a:r>
              <a:rPr lang="es-ES" dirty="0"/>
              <a:t> y </a:t>
            </a:r>
            <a:r>
              <a:rPr lang="es-ES" dirty="0" err="1"/>
              <a:t>mapstruct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C0B7BD-BD7C-6BE4-AAAD-30EB6B5A29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Cuando los atributos no coinciden o existen objetos anidados, se usan anotaciones como @Mapping para indicar origen y destino. Esto permite transformar estructuras complejas de forma controlada y eficiente.</a:t>
            </a:r>
          </a:p>
        </p:txBody>
      </p:sp>
    </p:spTree>
    <p:extLst>
      <p:ext uri="{BB962C8B-B14F-4D97-AF65-F5344CB8AC3E}">
        <p14:creationId xmlns:p14="http://schemas.microsoft.com/office/powerpoint/2010/main" val="37135529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C01EF-5F0B-ABF8-5EFE-13245478A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591CF7-D0AD-44B2-8987-7461DC6593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/>
          <a:lstStyle/>
          <a:p>
            <a:r>
              <a:rPr lang="es-ES" dirty="0"/>
              <a:t>Creación de entidades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0499273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751AD-DF19-E15E-A38E-41A10D3F7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130D3-69E8-6F1B-BE5D-62A04CB7D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Ceación</a:t>
            </a:r>
            <a:r>
              <a:rPr lang="es-ES" dirty="0"/>
              <a:t> de entidades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CF2FEA0-C7B0-7E6D-2FFB-8DA994303E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Las entidades en JPA son clases simples de Java (</a:t>
            </a:r>
            <a:r>
              <a:rPr lang="es-ES" sz="2400" dirty="0" err="1"/>
              <a:t>POJOs</a:t>
            </a:r>
            <a:r>
              <a:rPr lang="es-ES" sz="2400" dirty="0"/>
              <a:t>) que, mediante anotaciones, se convierten en la representación de tablas en la base de datos.</a:t>
            </a:r>
          </a:p>
          <a:p>
            <a:r>
              <a:rPr lang="es-ES" sz="2400" dirty="0"/>
              <a:t>La anotación @Entity define una clase como entidad gestionada por JPA. </a:t>
            </a:r>
          </a:p>
          <a:p>
            <a:r>
              <a:rPr lang="es-ES" sz="2400" dirty="0"/>
              <a:t>@Table permite especificar el nombre de la tabla. Si no se define, se usan los nombres de la clase y la entidad por defecto.</a:t>
            </a:r>
          </a:p>
        </p:txBody>
      </p:sp>
    </p:spTree>
    <p:extLst>
      <p:ext uri="{BB962C8B-B14F-4D97-AF65-F5344CB8AC3E}">
        <p14:creationId xmlns:p14="http://schemas.microsoft.com/office/powerpoint/2010/main" val="321643158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C6F21-9587-1CF9-3F5E-99ECC0AF4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2E346-38A5-0E82-10FD-2D310672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Ceación</a:t>
            </a:r>
            <a:r>
              <a:rPr lang="es-ES" dirty="0"/>
              <a:t> de entidades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AD38CE-7C9C-D920-BF89-81F794E28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La anotación @Id define la clave primaria. </a:t>
            </a:r>
          </a:p>
          <a:p>
            <a:r>
              <a:rPr lang="es-ES" sz="2400" dirty="0"/>
              <a:t>Con @GeneratedValue se indica cómo se genera el identificador, usando estrategias como AUTO, IDENTITY o SEQUENCE.</a:t>
            </a:r>
          </a:p>
          <a:p>
            <a:r>
              <a:rPr lang="es-ES" sz="2400" dirty="0"/>
              <a:t>@Column permite mapear atributos a columnas específicas y definir restricciones como longitud, nulidad o nombre personalizado de la columna.</a:t>
            </a:r>
          </a:p>
        </p:txBody>
      </p:sp>
    </p:spTree>
    <p:extLst>
      <p:ext uri="{BB962C8B-B14F-4D97-AF65-F5344CB8AC3E}">
        <p14:creationId xmlns:p14="http://schemas.microsoft.com/office/powerpoint/2010/main" val="2443160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5D127-75A8-F5C4-BFBF-328651568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41A9C1-5889-9F51-DB46-2C838FDE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Ceación</a:t>
            </a:r>
            <a:r>
              <a:rPr lang="es-ES" dirty="0"/>
              <a:t> de entidades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11839D-BFEF-B861-93E2-A6F2E741E4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@Transient excluye campos del mapeo a la base de datos. </a:t>
            </a:r>
          </a:p>
          <a:p>
            <a:r>
              <a:rPr lang="es-ES" sz="2400" dirty="0"/>
              <a:t>@Temporal (en desuso en Java moderno) se usaba para fechas, ahora reemplazado por tipos como </a:t>
            </a:r>
            <a:r>
              <a:rPr lang="es-ES" sz="2400" dirty="0" err="1"/>
              <a:t>LocalDate</a:t>
            </a:r>
            <a:r>
              <a:rPr lang="es-ES" sz="2400" dirty="0"/>
              <a:t> o </a:t>
            </a:r>
            <a:r>
              <a:rPr lang="es-ES" sz="2400" dirty="0" err="1"/>
              <a:t>LocalDateTime</a:t>
            </a:r>
            <a:r>
              <a:rPr lang="es-ES" sz="2400" dirty="0"/>
              <a:t>.</a:t>
            </a:r>
          </a:p>
          <a:p>
            <a:r>
              <a:rPr lang="es-ES" sz="2400" dirty="0"/>
              <a:t>Los </a:t>
            </a:r>
            <a:r>
              <a:rPr lang="es-ES" sz="2400" dirty="0" err="1"/>
              <a:t>enums</a:t>
            </a:r>
            <a:r>
              <a:rPr lang="es-ES" sz="2400" dirty="0"/>
              <a:t> requieren @Enumerated para definir cómo se almacenan en la base de datos, ya sea como texto (STRING) o como número (ORDINAL).</a:t>
            </a:r>
          </a:p>
        </p:txBody>
      </p:sp>
    </p:spTree>
    <p:extLst>
      <p:ext uri="{BB962C8B-B14F-4D97-AF65-F5344CB8AC3E}">
        <p14:creationId xmlns:p14="http://schemas.microsoft.com/office/powerpoint/2010/main" val="9735469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0FF9D-F2AC-AA98-50B9-4F003F9AE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92958-768F-87B2-DCF7-5119C1DBCC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sz="4000" dirty="0"/>
              <a:t>Tipos de claves primarias</a:t>
            </a:r>
            <a:endParaRPr lang="es-EC" sz="4000" dirty="0"/>
          </a:p>
        </p:txBody>
      </p:sp>
    </p:spTree>
    <p:extLst>
      <p:ext uri="{BB962C8B-B14F-4D97-AF65-F5344CB8AC3E}">
        <p14:creationId xmlns:p14="http://schemas.microsoft.com/office/powerpoint/2010/main" val="16064890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336DA-9CA3-0278-11F5-E2B9F5DFA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F4DAA0-1A29-9AE2-8427-FFE0386E1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clases primarias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FCD070-71FE-8AC3-C5AA-31A371E75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En bases de datos, a veces un solo campo no es suficiente para identificar un registro de forma única. En esos casos se combinan dos o más columnas para formar una clave primaria compuesta.</a:t>
            </a:r>
          </a:p>
          <a:p>
            <a:r>
              <a:rPr lang="es-ES" sz="2400" dirty="0"/>
              <a:t>Una clave compuesta es una clave formada por la unión de varios campos cuyo conjunto garantiza la unicidad del registro, aunque individualmente ninguno de ellos lo logre.</a:t>
            </a:r>
          </a:p>
        </p:txBody>
      </p:sp>
    </p:spTree>
    <p:extLst>
      <p:ext uri="{BB962C8B-B14F-4D97-AF65-F5344CB8AC3E}">
        <p14:creationId xmlns:p14="http://schemas.microsoft.com/office/powerpoint/2010/main" val="23757728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13C27-D108-AA9E-4C71-E991BBA5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EB91F-33E3-148C-B8FB-510C92ACB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clases primarias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D2BF03-6C8C-3148-84A2-5A49FE04E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Para modelarlo en Spring Data JPA se crea una clase separada que agrupa esos campos, marcada con @Embeddable, representando la clave compuesta como un objeto.</a:t>
            </a:r>
          </a:p>
          <a:p>
            <a:r>
              <a:rPr lang="es-ES" sz="2400" dirty="0"/>
              <a:t>Dentro de la entidad principal se utiliza @EmbeddedId para indicar que la clave primaria no es un campo simple, sino un objeto compuesto que contiene varios atributos.</a:t>
            </a:r>
          </a:p>
        </p:txBody>
      </p:sp>
    </p:spTree>
    <p:extLst>
      <p:ext uri="{BB962C8B-B14F-4D97-AF65-F5344CB8AC3E}">
        <p14:creationId xmlns:p14="http://schemas.microsoft.com/office/powerpoint/2010/main" val="3124470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3DEC9-51CF-1415-E724-EA4F4A9D5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52AB73-FBE3-97C5-A5CC-D7D4D14DD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clases primarias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C0EC81-659E-6F11-AC29-76A6CCEF7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En el repositorio JPA, el tipo de ID ya no es un valor simple, sino la clase que representa la clave compuesta, permitiendo operaciones CRUD usando ese identificador combinado.</a:t>
            </a:r>
          </a:p>
        </p:txBody>
      </p:sp>
    </p:spTree>
    <p:extLst>
      <p:ext uri="{BB962C8B-B14F-4D97-AF65-F5344CB8AC3E}">
        <p14:creationId xmlns:p14="http://schemas.microsoft.com/office/powerpoint/2010/main" val="22861553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26508-7480-A0BC-EA66-C734E2DE8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1278F-D24F-5558-EAB0-8023C46BD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sz="4000" dirty="0"/>
              <a:t>Tipos de relaciones entre tablas-entidades</a:t>
            </a:r>
            <a:endParaRPr lang="es-EC" sz="4000" dirty="0"/>
          </a:p>
        </p:txBody>
      </p:sp>
    </p:spTree>
    <p:extLst>
      <p:ext uri="{BB962C8B-B14F-4D97-AF65-F5344CB8AC3E}">
        <p14:creationId xmlns:p14="http://schemas.microsoft.com/office/powerpoint/2010/main" val="144824222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6221-053F-F913-80D7-14E71F48B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0218DA-B404-34A4-6EAF-395E71D2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relaciones entre tablas-entidades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103E66-4A6C-0D29-BF67-83F6CC6B3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 lnSpcReduction="10000"/>
          </a:bodyPr>
          <a:lstStyle/>
          <a:p>
            <a:r>
              <a:rPr lang="es-ES" sz="2400" dirty="0"/>
              <a:t>Relación uno a uno: esta ocurre cuando una entidad depende exclusivamente de otra, como un local y su gerente, donde cada local tiene un único gerente y ese gerente solo puede pertenecer a ese local. </a:t>
            </a:r>
          </a:p>
          <a:p>
            <a:r>
              <a:rPr lang="es-ES" sz="2400" dirty="0"/>
              <a:t>Para implementarlo se crean ambas entidades con sus atributos, generadores de ID y anotaciones de persistencia, y luego se establece la relación con </a:t>
            </a:r>
            <a:r>
              <a:rPr lang="es-ES" sz="2400" dirty="0" err="1"/>
              <a:t>OneToOne</a:t>
            </a:r>
            <a:r>
              <a:rPr lang="es-ES" sz="2400" dirty="0"/>
              <a:t> y </a:t>
            </a:r>
            <a:r>
              <a:rPr lang="es-ES" sz="2400" dirty="0" err="1"/>
              <a:t>JoinColumn</a:t>
            </a:r>
            <a:r>
              <a:rPr lang="es-ES" sz="2400" dirty="0"/>
              <a:t>, indicando la clave foránea en la base de datos. </a:t>
            </a:r>
          </a:p>
          <a:p>
            <a:r>
              <a:rPr lang="es-ES" sz="2400" dirty="0"/>
              <a:t>Al ejecutar la aplicación, </a:t>
            </a:r>
            <a:r>
              <a:rPr lang="es-ES" sz="2400" dirty="0" err="1"/>
              <a:t>Hibernate</a:t>
            </a:r>
            <a:r>
              <a:rPr lang="es-ES" sz="2400" dirty="0"/>
              <a:t> crea las tablas y agrega la restricción de clave foránea, reflejando correctamente la relación.</a:t>
            </a:r>
          </a:p>
        </p:txBody>
      </p:sp>
    </p:spTree>
    <p:extLst>
      <p:ext uri="{BB962C8B-B14F-4D97-AF65-F5344CB8AC3E}">
        <p14:creationId xmlns:p14="http://schemas.microsoft.com/office/powerpoint/2010/main" val="27051094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5EC10-BBEA-72E3-954E-8FF92081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87794-BD77-B36B-AEF8-C5ED2C7EF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relaciones entre tablas-entidades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0C9B4E-E4FF-8C35-ED53-A31688745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Relación uno a muchos: un local puede tener varias órdenes, pero cada orden pertenece a un solo local. </a:t>
            </a:r>
          </a:p>
          <a:p>
            <a:r>
              <a:rPr lang="es-ES" sz="2400" dirty="0"/>
              <a:t>Esto se implementa agregando una lista de órdenes en la entidad local y usando </a:t>
            </a:r>
            <a:r>
              <a:rPr lang="es-ES" sz="2400" dirty="0" err="1"/>
              <a:t>OneToMany</a:t>
            </a:r>
            <a:r>
              <a:rPr lang="es-ES" sz="2400" dirty="0"/>
              <a:t> junto con la configuración de cascada para permitir persistencia en cadena. </a:t>
            </a:r>
          </a:p>
          <a:p>
            <a:r>
              <a:rPr lang="es-ES" sz="2400" dirty="0"/>
              <a:t>Al ejecutar, </a:t>
            </a:r>
            <a:r>
              <a:rPr lang="es-ES" sz="2400" dirty="0" err="1"/>
              <a:t>Hibernate</a:t>
            </a:r>
            <a:r>
              <a:rPr lang="es-ES" sz="2400" dirty="0"/>
              <a:t> crea las tablas y maneja las inserciones de locales y órdenes de forma automática.</a:t>
            </a:r>
          </a:p>
        </p:txBody>
      </p:sp>
    </p:spTree>
    <p:extLst>
      <p:ext uri="{BB962C8B-B14F-4D97-AF65-F5344CB8AC3E}">
        <p14:creationId xmlns:p14="http://schemas.microsoft.com/office/powerpoint/2010/main" val="23927736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066A0-7DB1-DC07-5E29-346703438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7DD739-0769-4B43-96F2-381EB6DC2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Tipos de relaciones entre tablas-entidades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92E905-E5A9-C0A8-E2A0-8FADF459C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Relación muchos a muchos: un local puede tener muchos clientes y un cliente puede pertenecer a muchos locales. </a:t>
            </a:r>
          </a:p>
          <a:p>
            <a:r>
              <a:rPr lang="es-ES" sz="2400" dirty="0"/>
              <a:t>Para resolver esta relación se crea una tabla intermedia de unión con </a:t>
            </a:r>
            <a:r>
              <a:rPr lang="es-ES" sz="2400" dirty="0" err="1"/>
              <a:t>JoinTable</a:t>
            </a:r>
            <a:r>
              <a:rPr lang="es-ES" sz="2400" dirty="0"/>
              <a:t>, que almacena las claves foráneas de ambas entidades. </a:t>
            </a:r>
            <a:r>
              <a:rPr lang="es-ES" sz="2400" dirty="0" err="1"/>
              <a:t>Hibernate</a:t>
            </a:r>
            <a:r>
              <a:rPr lang="es-ES" sz="2400" dirty="0"/>
              <a:t> genera automáticamente esta tabla y gestiona las relaciones mediante registros intermedios.</a:t>
            </a:r>
          </a:p>
        </p:txBody>
      </p:sp>
    </p:spTree>
    <p:extLst>
      <p:ext uri="{BB962C8B-B14F-4D97-AF65-F5344CB8AC3E}">
        <p14:creationId xmlns:p14="http://schemas.microsoft.com/office/powerpoint/2010/main" val="36840108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0AEB4-7A60-DA35-9730-73EDFE41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CD3939-E329-14D5-E2C4-1C47686C0D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sz="4000" dirty="0"/>
              <a:t>Creación de repositorios</a:t>
            </a:r>
            <a:endParaRPr lang="es-EC" sz="4000" dirty="0"/>
          </a:p>
        </p:txBody>
      </p:sp>
    </p:spTree>
    <p:extLst>
      <p:ext uri="{BB962C8B-B14F-4D97-AF65-F5344CB8AC3E}">
        <p14:creationId xmlns:p14="http://schemas.microsoft.com/office/powerpoint/2010/main" val="172613173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AB213-E169-861A-29C0-99580FB5D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0B3A0-8FB1-6830-FA55-6476BB4F4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de repositorios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DC28E-ACD0-012E-3403-4C1DEA0450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Extendiendo </a:t>
            </a:r>
            <a:r>
              <a:rPr lang="es-ES" sz="2400" dirty="0" err="1"/>
              <a:t>JpaRepository</a:t>
            </a:r>
            <a:r>
              <a:rPr lang="es-ES" sz="2400" dirty="0"/>
              <a:t> se obtiene acceso automático a una jerarquía de interfaces como </a:t>
            </a:r>
            <a:r>
              <a:rPr lang="es-ES" sz="2400" dirty="0" err="1"/>
              <a:t>CrudRepository</a:t>
            </a:r>
            <a:r>
              <a:rPr lang="es-ES" sz="2400" dirty="0"/>
              <a:t> y </a:t>
            </a:r>
            <a:r>
              <a:rPr lang="es-ES" sz="2400" dirty="0" err="1"/>
              <a:t>ListCrudRepository</a:t>
            </a:r>
            <a:r>
              <a:rPr lang="es-ES" sz="2400" dirty="0"/>
              <a:t>. Estas interfaces proporcionan métodos listos para usar que permiten realizar operaciones CRUD sin necesidad de implementarlas manualmente.</a:t>
            </a:r>
          </a:p>
        </p:txBody>
      </p:sp>
    </p:spTree>
    <p:extLst>
      <p:ext uri="{BB962C8B-B14F-4D97-AF65-F5344CB8AC3E}">
        <p14:creationId xmlns:p14="http://schemas.microsoft.com/office/powerpoint/2010/main" val="37840899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6CD11-C66C-E8CA-C9F8-0C5C178C6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A0C24E-403E-5599-D7D0-A66397BD5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Creación de repositorios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8F1E55-1A36-58BC-0813-288593220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La convención de nombres en Spring Data JPA permite crear métodos personalizados en el repositorio sin escribir SQL. </a:t>
            </a:r>
          </a:p>
          <a:p>
            <a:r>
              <a:rPr lang="es-ES" sz="2400" dirty="0"/>
              <a:t>El </a:t>
            </a:r>
            <a:r>
              <a:rPr lang="es-ES" sz="2400" dirty="0" err="1"/>
              <a:t>framework</a:t>
            </a:r>
            <a:r>
              <a:rPr lang="es-ES" sz="2400" dirty="0"/>
              <a:t> interpreta el nombre del método para generar automáticamente la consulta correspondiente. Por ejemplo, un método como </a:t>
            </a:r>
            <a:r>
              <a:rPr lang="es-ES" sz="2400" dirty="0" err="1"/>
              <a:t>findByFirstName</a:t>
            </a:r>
            <a:r>
              <a:rPr lang="es-ES" sz="2400" dirty="0"/>
              <a:t> permite buscar registros filtrados por el campo nombre.</a:t>
            </a:r>
          </a:p>
        </p:txBody>
      </p:sp>
    </p:spTree>
    <p:extLst>
      <p:ext uri="{BB962C8B-B14F-4D97-AF65-F5344CB8AC3E}">
        <p14:creationId xmlns:p14="http://schemas.microsoft.com/office/powerpoint/2010/main" val="30082987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1B66C-250B-E64A-298B-3343DE5A7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036307-3BBA-8CFC-E0E0-6C6D221B2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Sobre </a:t>
            </a:r>
            <a:r>
              <a:rPr lang="es-ES" dirty="0" err="1"/>
              <a:t>crudrepository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18743237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25E76-C649-4FB2-2F64-D3FA86CA2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8299C-52F5-2B5C-2436-B082D2919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crudrepository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ABBE47-9428-E315-5638-18099F26D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Consultas derivadas en Spring Data JPA: los métodos del repositorio pueden generar consultas automáticamente sin escribir SQL. Al nombrar métodos como </a:t>
            </a:r>
            <a:r>
              <a:rPr lang="es-ES" sz="2400" dirty="0" err="1"/>
              <a:t>findByFirstName</a:t>
            </a:r>
            <a:r>
              <a:rPr lang="es-ES" sz="2400" dirty="0"/>
              <a:t>, Spring interpreta el nombre usando una convención y construye la consulta internamente.</a:t>
            </a:r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2012436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E8955-BA1F-5208-3764-3192892DD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F07AA0-5FA8-87B2-62F2-CBDC3930C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crudrepository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76E09A-E4BF-7B1A-9944-6255E41AE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Ejemplos prácticos: </a:t>
            </a:r>
          </a:p>
          <a:p>
            <a:r>
              <a:rPr lang="es-ES" sz="2400" dirty="0"/>
              <a:t>búsquedas por coincidencia parcial usando palabras clave como </a:t>
            </a:r>
            <a:r>
              <a:rPr lang="es-ES" sz="2400" dirty="0" err="1"/>
              <a:t>Containing</a:t>
            </a:r>
            <a:r>
              <a:rPr lang="es-ES" sz="2400" dirty="0"/>
              <a:t>, </a:t>
            </a:r>
          </a:p>
          <a:p>
            <a:r>
              <a:rPr lang="es-ES" sz="2400" dirty="0"/>
              <a:t>filtrado por valores no nulos con </a:t>
            </a:r>
            <a:r>
              <a:rPr lang="es-ES" sz="2400" dirty="0" err="1"/>
              <a:t>NotNull</a:t>
            </a:r>
            <a:r>
              <a:rPr lang="es-ES" sz="2400" dirty="0"/>
              <a:t>,</a:t>
            </a:r>
          </a:p>
          <a:p>
            <a:r>
              <a:rPr lang="es-ES" sz="2400" dirty="0"/>
              <a:t>consultas sobre atributos de objetos embebidos como, por ejemplo, “</a:t>
            </a:r>
            <a:r>
              <a:rPr lang="es-ES" sz="2400" dirty="0" err="1"/>
              <a:t>address.city</a:t>
            </a:r>
            <a:r>
              <a:rPr lang="es-ES" sz="2400" dirty="0"/>
              <a:t>”. </a:t>
            </a:r>
          </a:p>
          <a:p>
            <a:pPr marL="0" indent="0">
              <a:buNone/>
            </a:pPr>
            <a:r>
              <a:rPr lang="es-ES" sz="2400" dirty="0"/>
              <a:t>Todo esto permite realizar consultas complejas solo definiendo el nombre del método.</a:t>
            </a:r>
          </a:p>
        </p:txBody>
      </p:sp>
    </p:spTree>
    <p:extLst>
      <p:ext uri="{BB962C8B-B14F-4D97-AF65-F5344CB8AC3E}">
        <p14:creationId xmlns:p14="http://schemas.microsoft.com/office/powerpoint/2010/main" val="2540004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73B3C-88EB-EBC0-BCBD-FC8EAD4F4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7F0717-E87D-2F19-764F-8FAA6737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Sobre </a:t>
            </a:r>
            <a:r>
              <a:rPr lang="es-ES" dirty="0" err="1"/>
              <a:t>crudrepository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22CCA3B-DB75-EA92-327E-6EAEA725FC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Spring Data JPA ofrece una amplia lista de </a:t>
            </a:r>
            <a:r>
              <a:rPr lang="es-ES" sz="2400" dirty="0" err="1"/>
              <a:t>keywords</a:t>
            </a:r>
            <a:r>
              <a:rPr lang="es-ES" sz="2400" dirty="0"/>
              <a:t> oficiales como </a:t>
            </a:r>
            <a:r>
              <a:rPr lang="es-ES" sz="2400" dirty="0" err="1"/>
              <a:t>Or</a:t>
            </a:r>
            <a:r>
              <a:rPr lang="es-ES" sz="2400" dirty="0"/>
              <a:t>, Like y </a:t>
            </a:r>
            <a:r>
              <a:rPr lang="es-ES" sz="2400" dirty="0" err="1"/>
              <a:t>OrderBy</a:t>
            </a:r>
            <a:r>
              <a:rPr lang="es-ES" sz="2400" dirty="0"/>
              <a:t>, lo que permite construir filtros más potentes y expresivos directamente desde los repositorios, sin necesidad de SQL manual.</a:t>
            </a:r>
          </a:p>
        </p:txBody>
      </p:sp>
    </p:spTree>
    <p:extLst>
      <p:ext uri="{BB962C8B-B14F-4D97-AF65-F5344CB8AC3E}">
        <p14:creationId xmlns:p14="http://schemas.microsoft.com/office/powerpoint/2010/main" val="391467853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2A7C7-22D8-7EA4-B094-AE5DE7351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8C6381-720A-939B-27FC-4FEA4859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Query </a:t>
            </a:r>
            <a:r>
              <a:rPr lang="es-ES" dirty="0" err="1"/>
              <a:t>methods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7906864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3A6D1E-9AB6-0BE1-F237-614CE0771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C25597-0A71-5379-A4AD-756120ED2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Query </a:t>
            </a:r>
            <a:r>
              <a:rPr lang="es-ES" dirty="0" err="1"/>
              <a:t>methods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2E4D2D-A7B0-3CD0-B212-2EAC3DEB65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El uso de consultas personalizadas en Spring Data JPA mediante JPQL son una herramienta útil cuando la convención de nombres no es suficiente para consultas más específicas. </a:t>
            </a:r>
          </a:p>
          <a:p>
            <a:r>
              <a:rPr lang="es-ES" sz="2400" dirty="0"/>
              <a:t>Con la anotación @Query, es posible definir directamente la consulta y trabajar aún a nivel de entidades, manteniendo el enfoque orientado a objetos.</a:t>
            </a:r>
          </a:p>
        </p:txBody>
      </p:sp>
    </p:spTree>
    <p:extLst>
      <p:ext uri="{BB962C8B-B14F-4D97-AF65-F5344CB8AC3E}">
        <p14:creationId xmlns:p14="http://schemas.microsoft.com/office/powerpoint/2010/main" val="217422554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1EE0B-27A2-8C97-F85B-C77D80E74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14956-0AE4-DD8D-C099-195B911F1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Query </a:t>
            </a:r>
            <a:r>
              <a:rPr lang="es-ES" dirty="0" err="1"/>
              <a:t>methods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2BEB51-F05E-C01E-6498-9425258E6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JPQL permite consultar datos filtrando por atributos como email, o incluso seleccionar solo un campo específico, como el nombre del cliente, en lugar de toda la entidad. Esto da mayor flexibilidad y control sobre los resultados.</a:t>
            </a:r>
          </a:p>
        </p:txBody>
      </p:sp>
    </p:spTree>
    <p:extLst>
      <p:ext uri="{BB962C8B-B14F-4D97-AF65-F5344CB8AC3E}">
        <p14:creationId xmlns:p14="http://schemas.microsoft.com/office/powerpoint/2010/main" val="12211203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37CA2-9C3D-1B2C-5B2A-4BAEBC36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B128FB-88B7-0ED3-18A7-7E1C3DA23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Query </a:t>
            </a:r>
            <a:r>
              <a:rPr lang="es-ES" dirty="0" err="1"/>
              <a:t>methods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EF5EEA0-7AD8-DBE3-AF86-372648826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 err="1"/>
              <a:t>nativeQuery</a:t>
            </a:r>
            <a:r>
              <a:rPr lang="es-ES" sz="2400" dirty="0"/>
              <a:t> permite ejecutar sentencias nativas de SQL directamente sobre las tablas de la base de datos. </a:t>
            </a:r>
          </a:p>
          <a:p>
            <a:r>
              <a:rPr lang="es-ES" sz="2400" dirty="0"/>
              <a:t>También introducen una mejora importante: el uso de parámetros nombrados, que reemplazan los índices posicionales y hacen el código más claro y mantenible cuando hay múltiples parámetros.</a:t>
            </a:r>
          </a:p>
        </p:txBody>
      </p:sp>
    </p:spTree>
    <p:extLst>
      <p:ext uri="{BB962C8B-B14F-4D97-AF65-F5344CB8AC3E}">
        <p14:creationId xmlns:p14="http://schemas.microsoft.com/office/powerpoint/2010/main" val="6094452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F3EA4-4236-A50B-36EF-8ECBD415E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211E82-F45D-3B27-9EE7-AB4658A6AA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Paginación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5203069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85AAB-F664-4DAF-7549-FB19C7DA6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E2EE8-65CE-2C71-B07A-47538A9FA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paginación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86D826-50FA-493A-4B01-418D11E49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¿Qué es? Divide los resultados en páginas.</a:t>
            </a:r>
          </a:p>
          <a:p>
            <a:r>
              <a:rPr lang="es-ES" sz="2400" dirty="0"/>
              <a:t>Se configura con </a:t>
            </a:r>
            <a:r>
              <a:rPr lang="es-ES" sz="2400" dirty="0" err="1"/>
              <a:t>PageRequest.of</a:t>
            </a:r>
            <a:r>
              <a:rPr lang="es-ES" sz="2400" dirty="0"/>
              <a:t>(página, tamaño).</a:t>
            </a:r>
          </a:p>
          <a:p>
            <a:r>
              <a:rPr lang="es-ES" sz="2400" dirty="0"/>
              <a:t>Ejemplo: Página 0, 3 registros por página</a:t>
            </a:r>
          </a:p>
          <a:p>
            <a:r>
              <a:rPr lang="es-ES" sz="2400" dirty="0"/>
              <a:t>Evita cargar todos los registros de una sola vez.</a:t>
            </a:r>
          </a:p>
        </p:txBody>
      </p:sp>
    </p:spTree>
    <p:extLst>
      <p:ext uri="{BB962C8B-B14F-4D97-AF65-F5344CB8AC3E}">
        <p14:creationId xmlns:p14="http://schemas.microsoft.com/office/powerpoint/2010/main" val="37522314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6115F-E125-0D37-6A28-020BD0D0D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5A4D8-2F55-9D9A-98D5-38E318C78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Paginación: información útil de una página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08B036-D010-622B-0306-19EF89E8D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Datos que proporciona Spring Data JPA:</a:t>
            </a:r>
          </a:p>
          <a:p>
            <a:r>
              <a:rPr lang="es-ES" sz="2400" dirty="0"/>
              <a:t>Contenido de la página (</a:t>
            </a:r>
            <a:r>
              <a:rPr lang="es-ES" sz="2400" dirty="0" err="1"/>
              <a:t>getContent</a:t>
            </a:r>
            <a:r>
              <a:rPr lang="es-ES" sz="2400" dirty="0"/>
              <a:t>()).</a:t>
            </a:r>
          </a:p>
          <a:p>
            <a:r>
              <a:rPr lang="es-ES" sz="2400" dirty="0"/>
              <a:t>Total de elementos (</a:t>
            </a:r>
            <a:r>
              <a:rPr lang="es-ES" sz="2400" dirty="0" err="1"/>
              <a:t>getTotalElements</a:t>
            </a:r>
            <a:r>
              <a:rPr lang="es-ES" sz="2400" dirty="0"/>
              <a:t>()).</a:t>
            </a:r>
          </a:p>
          <a:p>
            <a:r>
              <a:rPr lang="es-ES" sz="2400" dirty="0"/>
              <a:t>Total de páginas (</a:t>
            </a:r>
            <a:r>
              <a:rPr lang="es-ES" sz="2400" dirty="0" err="1"/>
              <a:t>getTotalPages</a:t>
            </a:r>
            <a:r>
              <a:rPr lang="es-ES" sz="2400" dirty="0"/>
              <a:t>()).</a:t>
            </a:r>
          </a:p>
          <a:p>
            <a:r>
              <a:rPr lang="es-ES" sz="2400" dirty="0"/>
              <a:t>Beneficio: mejora el rendimiento y reduce la carga sobre la base de datos.</a:t>
            </a:r>
          </a:p>
        </p:txBody>
      </p:sp>
    </p:spTree>
    <p:extLst>
      <p:ext uri="{BB962C8B-B14F-4D97-AF65-F5344CB8AC3E}">
        <p14:creationId xmlns:p14="http://schemas.microsoft.com/office/powerpoint/2010/main" val="21873032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8D05C-3BD4-504C-8DBE-914FE6663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D304D6-D4D6-C448-D39F-C0CF927E1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Paginación: ordenamiento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C0449B-E513-29C5-0C56-5E0054926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Ordenar resultados:</a:t>
            </a:r>
          </a:p>
          <a:p>
            <a:r>
              <a:rPr lang="es-ES" sz="2400" dirty="0"/>
              <a:t>Ascendente: Sort.by("</a:t>
            </a:r>
            <a:r>
              <a:rPr lang="es-ES" sz="2400" dirty="0" err="1"/>
              <a:t>price</a:t>
            </a:r>
            <a:r>
              <a:rPr lang="es-ES" sz="2400" dirty="0"/>
              <a:t>")</a:t>
            </a:r>
          </a:p>
          <a:p>
            <a:r>
              <a:rPr lang="es-ES" sz="2400" dirty="0"/>
              <a:t>Descendente: Sort.by("</a:t>
            </a:r>
            <a:r>
              <a:rPr lang="es-ES" sz="2400" dirty="0" err="1"/>
              <a:t>price</a:t>
            </a:r>
            <a:r>
              <a:rPr lang="es-ES" sz="2400" dirty="0"/>
              <a:t>").</a:t>
            </a:r>
            <a:r>
              <a:rPr lang="es-ES" sz="2400" dirty="0" err="1"/>
              <a:t>descending</a:t>
            </a:r>
            <a:r>
              <a:rPr lang="es-ES" sz="2400" dirty="0"/>
              <a:t>()</a:t>
            </a:r>
          </a:p>
          <a:p>
            <a:pPr marL="0" indent="0">
              <a:buNone/>
            </a:pPr>
            <a:r>
              <a:rPr lang="es-ES" sz="2400" dirty="0"/>
              <a:t>Ejemplo: De menor a mayor precio, o de mayor a menor precio.</a:t>
            </a:r>
          </a:p>
        </p:txBody>
      </p:sp>
    </p:spTree>
    <p:extLst>
      <p:ext uri="{BB962C8B-B14F-4D97-AF65-F5344CB8AC3E}">
        <p14:creationId xmlns:p14="http://schemas.microsoft.com/office/powerpoint/2010/main" val="179348242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745F0-EF4D-5A0C-7131-04797B9BD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A059F-F9E2-CA97-B2A2-95694B20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Paginación + filtros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9AB8C5-E1E3-9FC7-3F28-98206DA18E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Uso de la convención de nomenclatura: </a:t>
            </a:r>
            <a:r>
              <a:rPr lang="es-ES" sz="2400" dirty="0" err="1"/>
              <a:t>findByDescriptionContaining</a:t>
            </a:r>
            <a:r>
              <a:rPr lang="es-ES" sz="2400" dirty="0"/>
              <a:t>(...)</a:t>
            </a:r>
          </a:p>
          <a:p>
            <a:r>
              <a:rPr lang="es-ES" sz="2400" dirty="0"/>
              <a:t>Puede combinarse con paginación, ordenamiento, y filtros por texto.</a:t>
            </a:r>
          </a:p>
        </p:txBody>
      </p:sp>
    </p:spTree>
    <p:extLst>
      <p:ext uri="{BB962C8B-B14F-4D97-AF65-F5344CB8AC3E}">
        <p14:creationId xmlns:p14="http://schemas.microsoft.com/office/powerpoint/2010/main" val="19050104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CFE4-47CC-37D6-FF2F-BB1794898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0514B-833E-EE8A-2E69-0A42AA85BC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Búsquedas en </a:t>
            </a:r>
            <a:r>
              <a:rPr lang="es-ES" dirty="0" err="1"/>
              <a:t>spring</a:t>
            </a:r>
            <a:r>
              <a:rPr lang="es-ES" dirty="0"/>
              <a:t> data </a:t>
            </a:r>
            <a:r>
              <a:rPr lang="es-ES" dirty="0" err="1"/>
              <a:t>jpa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3201677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5FBC4-BE8E-8F65-BEAF-CF782344D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3649A-181C-BA21-E32E-1193D5C03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Búsquedas en </a:t>
            </a:r>
            <a:r>
              <a:rPr lang="es-ES" dirty="0" err="1"/>
              <a:t>spring</a:t>
            </a:r>
            <a:r>
              <a:rPr lang="es-ES" dirty="0"/>
              <a:t> data </a:t>
            </a:r>
            <a:r>
              <a:rPr lang="es-ES" dirty="0" err="1"/>
              <a:t>jpa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549F950-BA26-5661-5B05-A94FC58EB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Tres formas de realizar búsquedas: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Query nativa (SQL puro).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JPQL (Java </a:t>
            </a:r>
            <a:r>
              <a:rPr lang="es-ES" sz="2400" dirty="0" err="1"/>
              <a:t>Persistence</a:t>
            </a:r>
            <a:r>
              <a:rPr lang="es-ES" sz="2400" dirty="0"/>
              <a:t> Query </a:t>
            </a:r>
            <a:r>
              <a:rPr lang="es-ES" sz="2400" dirty="0" err="1"/>
              <a:t>Language</a:t>
            </a:r>
            <a:r>
              <a:rPr lang="es-ES" sz="24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Métodos derivados de Spring Data JPA.</a:t>
            </a:r>
          </a:p>
          <a:p>
            <a:pPr marL="0" indent="0">
              <a:buNone/>
            </a:pPr>
            <a:r>
              <a:rPr lang="es-ES" sz="2400" dirty="0"/>
              <a:t>Todas permiten consultar datos, pero con distintos niveles de abstracción.</a:t>
            </a:r>
          </a:p>
        </p:txBody>
      </p:sp>
    </p:spTree>
    <p:extLst>
      <p:ext uri="{BB962C8B-B14F-4D97-AF65-F5344CB8AC3E}">
        <p14:creationId xmlns:p14="http://schemas.microsoft.com/office/powerpoint/2010/main" val="6232853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FADE0-F804-9F2D-1E6B-4B0739875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6FF3CB-F710-ED29-6A63-054E1BBA1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Búsquedas en </a:t>
            </a:r>
            <a:r>
              <a:rPr lang="es-ES" dirty="0" err="1"/>
              <a:t>spring</a:t>
            </a:r>
            <a:r>
              <a:rPr lang="es-ES" dirty="0"/>
              <a:t> data </a:t>
            </a:r>
            <a:r>
              <a:rPr lang="es-ES" dirty="0" err="1"/>
              <a:t>jpa</a:t>
            </a:r>
            <a:r>
              <a:rPr lang="es-ES" dirty="0"/>
              <a:t>: </a:t>
            </a:r>
            <a:r>
              <a:rPr lang="es-ES" dirty="0" err="1"/>
              <a:t>query</a:t>
            </a:r>
            <a:r>
              <a:rPr lang="es-ES" dirty="0"/>
              <a:t> nativa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5E832E4-C053-1192-5832-3593F4606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r>
              <a:rPr lang="es-ES" sz="2400" dirty="0"/>
              <a:t>Utilizan la sintaxis propia de la base de datos, y trabajan con nombres reales de tablas y columnas.</a:t>
            </a:r>
          </a:p>
          <a:p>
            <a:r>
              <a:rPr lang="es-ES" sz="2400" dirty="0"/>
              <a:t>Se declaran con @Query(nativeQuery = true). Ventaja: control total sobre la consulta SQL.</a:t>
            </a:r>
          </a:p>
        </p:txBody>
      </p:sp>
    </p:spTree>
    <p:extLst>
      <p:ext uri="{BB962C8B-B14F-4D97-AF65-F5344CB8AC3E}">
        <p14:creationId xmlns:p14="http://schemas.microsoft.com/office/powerpoint/2010/main" val="36720865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CEC95-C105-2391-B9CE-009FCB3A8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060A9D-C768-C8C3-87D9-926296961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Búsquedas en </a:t>
            </a:r>
            <a:r>
              <a:rPr lang="es-ES" dirty="0" err="1"/>
              <a:t>spring</a:t>
            </a:r>
            <a:r>
              <a:rPr lang="es-ES" dirty="0"/>
              <a:t> data </a:t>
            </a:r>
            <a:r>
              <a:rPr lang="es-ES" dirty="0" err="1"/>
              <a:t>jpa</a:t>
            </a:r>
            <a:r>
              <a:rPr lang="es-ES" dirty="0"/>
              <a:t>: </a:t>
            </a:r>
            <a:r>
              <a:rPr lang="es-ES" dirty="0" err="1"/>
              <a:t>jpql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42C307-F13F-1D4B-B1A3-DEB8FCA06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sz="2400" dirty="0"/>
              <a:t>Trabajan con entidades Java, no con tablas, y utilizan nombres de clases y atributos. Permiten mantener la independencia del motor de base de datos.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Ejemplo: FROM </a:t>
            </a:r>
            <a:r>
              <a:rPr lang="es-ES" sz="2400" dirty="0" err="1"/>
              <a:t>Customer</a:t>
            </a:r>
            <a:r>
              <a:rPr lang="es-ES" sz="2400" dirty="0"/>
              <a:t> WHERE </a:t>
            </a:r>
            <a:r>
              <a:rPr lang="es-ES" sz="2400" dirty="0" err="1"/>
              <a:t>firstName</a:t>
            </a:r>
            <a:r>
              <a:rPr lang="es-ES" sz="2400" dirty="0"/>
              <a:t> = :</a:t>
            </a:r>
            <a:r>
              <a:rPr lang="es-ES" sz="2400" dirty="0" err="1"/>
              <a:t>name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08510348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C0B6E-5668-7135-FFFB-A2446E551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3971E2-11D5-F102-BFBA-030719529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Búsquedas en </a:t>
            </a:r>
            <a:r>
              <a:rPr lang="es-ES" dirty="0" err="1"/>
              <a:t>spring</a:t>
            </a:r>
            <a:r>
              <a:rPr lang="es-ES" dirty="0"/>
              <a:t> data </a:t>
            </a:r>
            <a:r>
              <a:rPr lang="es-ES" dirty="0" err="1"/>
              <a:t>jpa</a:t>
            </a:r>
            <a:r>
              <a:rPr lang="es-ES" dirty="0"/>
              <a:t>: búsquedas parciales e ignore case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6E4618-C87F-2FDF-4816-A168D2EB7B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Funciones útiles:</a:t>
            </a:r>
          </a:p>
          <a:p>
            <a:r>
              <a:rPr lang="es-ES" sz="2400" dirty="0" err="1"/>
              <a:t>Containing</a:t>
            </a:r>
            <a:r>
              <a:rPr lang="es-ES" sz="2400" dirty="0"/>
              <a:t>: busca coincidencias parciales.</a:t>
            </a:r>
          </a:p>
          <a:p>
            <a:r>
              <a:rPr lang="es-ES" sz="2400" dirty="0" err="1"/>
              <a:t>IgnoreCase</a:t>
            </a:r>
            <a:r>
              <a:rPr lang="es-ES" sz="2400" dirty="0"/>
              <a:t>: ignora mayúsculas y minúsculas.</a:t>
            </a:r>
          </a:p>
          <a:p>
            <a:pPr marL="0" indent="0">
              <a:buNone/>
            </a:pPr>
            <a:r>
              <a:rPr lang="es-ES" sz="2400" dirty="0"/>
              <a:t>Ejemplo: Buscar “dan" encuentra “Daniel“, o buscar “DANIEL" o “</a:t>
            </a:r>
            <a:r>
              <a:rPr lang="es-ES" sz="2400" dirty="0" err="1"/>
              <a:t>daniel</a:t>
            </a:r>
            <a:r>
              <a:rPr lang="es-ES" sz="2400" dirty="0"/>
              <a:t>" produce el mismo resultado.</a:t>
            </a:r>
          </a:p>
        </p:txBody>
      </p:sp>
    </p:spTree>
    <p:extLst>
      <p:ext uri="{BB962C8B-B14F-4D97-AF65-F5344CB8AC3E}">
        <p14:creationId xmlns:p14="http://schemas.microsoft.com/office/powerpoint/2010/main" val="2336242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43468-ADC8-AE4C-97FE-904B79F27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07572C-0236-3D4D-D81B-F9A63D960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Campos de auditoría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84395708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B30E1-5F7D-1752-FA94-576EEAB87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CF1EAF-4C88-2BCD-958B-1202E5558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Campos de auditoría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D97AB6-6428-4C5F-A16B-1AE7081EB3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Permite registrar información automática de una entidad.</a:t>
            </a:r>
          </a:p>
          <a:p>
            <a:r>
              <a:rPr lang="es-ES" sz="2400" dirty="0"/>
              <a:t>Ejemplos: Fecha de creación (</a:t>
            </a:r>
            <a:r>
              <a:rPr lang="es-ES" sz="2400" dirty="0" err="1"/>
              <a:t>createdAt</a:t>
            </a:r>
            <a:r>
              <a:rPr lang="es-ES" sz="2400" dirty="0"/>
              <a:t>).</a:t>
            </a:r>
          </a:p>
          <a:p>
            <a:r>
              <a:rPr lang="es-ES" sz="2400" dirty="0"/>
              <a:t>Fecha de última actualización (</a:t>
            </a:r>
            <a:r>
              <a:rPr lang="es-ES" sz="2400" dirty="0" err="1"/>
              <a:t>updatedAt</a:t>
            </a:r>
            <a:r>
              <a:rPr lang="es-ES" sz="2400" dirty="0"/>
              <a:t>).</a:t>
            </a:r>
          </a:p>
          <a:p>
            <a:pPr marL="0" indent="0">
              <a:buNone/>
            </a:pPr>
            <a:r>
              <a:rPr lang="es-ES" sz="2400" dirty="0"/>
              <a:t>Evita gestionar estos datos manualmente.</a:t>
            </a:r>
          </a:p>
        </p:txBody>
      </p:sp>
    </p:spTree>
    <p:extLst>
      <p:ext uri="{BB962C8B-B14F-4D97-AF65-F5344CB8AC3E}">
        <p14:creationId xmlns:p14="http://schemas.microsoft.com/office/powerpoint/2010/main" val="247071571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25009-B3FA-9518-AFF0-9D8876F7D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750C06-4D57-3974-BA54-ADD0BA448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Campos de auditoría: </a:t>
            </a:r>
            <a:r>
              <a:rPr lang="es-ES" dirty="0" err="1"/>
              <a:t>callbacks</a:t>
            </a:r>
            <a:r>
              <a:rPr lang="es-ES" dirty="0"/>
              <a:t> de </a:t>
            </a:r>
            <a:r>
              <a:rPr lang="es-ES" dirty="0" err="1"/>
              <a:t>jpa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99D9BF-878A-BEED-13CA-4969F8600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Anotaciones principales:</a:t>
            </a:r>
          </a:p>
          <a:p>
            <a:r>
              <a:rPr lang="es-ES" sz="2400" dirty="0"/>
              <a:t>@PrePersist: Se ejecuta antes de guardar una entidad por primera vez.</a:t>
            </a:r>
          </a:p>
          <a:p>
            <a:r>
              <a:rPr lang="es-ES" sz="2400" dirty="0"/>
              <a:t>@PreUpdate: Se ejecuta antes de actualizar una entidad.</a:t>
            </a:r>
          </a:p>
          <a:p>
            <a:pPr marL="0" indent="0">
              <a:buNone/>
            </a:pPr>
            <a:r>
              <a:rPr lang="es-ES" sz="2400" dirty="0"/>
              <a:t>Estas anotaciones permiten asignar fechas automáticamente.</a:t>
            </a:r>
          </a:p>
        </p:txBody>
      </p:sp>
    </p:spTree>
    <p:extLst>
      <p:ext uri="{BB962C8B-B14F-4D97-AF65-F5344CB8AC3E}">
        <p14:creationId xmlns:p14="http://schemas.microsoft.com/office/powerpoint/2010/main" val="204641509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492F4-BCDB-2141-A2D1-DE1142DF3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F49687-829B-9FD3-531D-E29C879506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Validaciones y manejo de excepciones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0047412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F9D01-8B06-5C8F-197F-402AA0A9B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77618-A9F4-97D0-10D6-6163E922F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Manejo de excepciones por validaciones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9312DD-3164-B564-2DE7-A33C4EBC5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b="1" dirty="0"/>
              <a:t>¿Por qué validar? </a:t>
            </a:r>
            <a:r>
              <a:rPr lang="es-ES" sz="2400" dirty="0"/>
              <a:t>Evita guardar información inválida en la base de datos. Permite controlar campos vacíos, nulos o con formatos incorrectos. Mejora la calidad y consistencia de los datos.</a:t>
            </a:r>
          </a:p>
        </p:txBody>
      </p:sp>
    </p:spTree>
    <p:extLst>
      <p:ext uri="{BB962C8B-B14F-4D97-AF65-F5344CB8AC3E}">
        <p14:creationId xmlns:p14="http://schemas.microsoft.com/office/powerpoint/2010/main" val="50392679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0BE32-7F65-2484-C527-E833E9909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52B162-D4FD-546E-816B-76D4EB166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Manejo de excepciones por validaciones: dependencia de validación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2EA3BC-10D6-97D6-BCA4-40675043A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Se agrega la dependencia:</a:t>
            </a:r>
          </a:p>
          <a:p>
            <a:pPr marL="0" indent="0">
              <a:buNone/>
            </a:pPr>
            <a:r>
              <a:rPr lang="es-ES" sz="2400" dirty="0" err="1"/>
              <a:t>spring</a:t>
            </a:r>
            <a:r>
              <a:rPr lang="es-ES" sz="2400" dirty="0"/>
              <a:t>-</a:t>
            </a:r>
            <a:r>
              <a:rPr lang="es-ES" sz="2400" dirty="0" err="1"/>
              <a:t>boot</a:t>
            </a:r>
            <a:r>
              <a:rPr lang="es-ES" sz="2400" dirty="0"/>
              <a:t>-starter-</a:t>
            </a:r>
            <a:r>
              <a:rPr lang="es-ES" sz="2400" dirty="0" err="1"/>
              <a:t>validation</a:t>
            </a:r>
            <a:endParaRPr lang="es-ES" sz="2400" dirty="0"/>
          </a:p>
          <a:p>
            <a:pPr marL="0" indent="0">
              <a:buNone/>
            </a:pPr>
            <a:r>
              <a:rPr lang="es-ES" sz="2400" dirty="0"/>
              <a:t>Habilita anotaciones para validar entidades automáticamente.</a:t>
            </a:r>
          </a:p>
        </p:txBody>
      </p:sp>
    </p:spTree>
    <p:extLst>
      <p:ext uri="{BB962C8B-B14F-4D97-AF65-F5344CB8AC3E}">
        <p14:creationId xmlns:p14="http://schemas.microsoft.com/office/powerpoint/2010/main" val="191680703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0854F-1DE2-8015-844A-FEFD53971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6A127E-25D1-48A5-5EBF-6FAA2AC29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Manejo de excepciones por validaciones: validaciones en la entidad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4CD484-4BE1-B337-B5AD-701A8B0A3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Anotaciones más utilizadas:</a:t>
            </a:r>
          </a:p>
          <a:p>
            <a:r>
              <a:rPr lang="es-ES" sz="2400" dirty="0"/>
              <a:t>@NotBlank: Impide cadenas vacías.</a:t>
            </a:r>
          </a:p>
          <a:p>
            <a:r>
              <a:rPr lang="es-ES" sz="2400" dirty="0"/>
              <a:t>@Size(min, </a:t>
            </a:r>
            <a:r>
              <a:rPr lang="es-ES" sz="2400" dirty="0" err="1"/>
              <a:t>max</a:t>
            </a:r>
            <a:r>
              <a:rPr lang="es-ES" sz="2400" dirty="0"/>
              <a:t>): Define longitud mínima y máxima.</a:t>
            </a:r>
          </a:p>
          <a:p>
            <a:pPr marL="0" indent="0">
              <a:buNone/>
            </a:pPr>
            <a:r>
              <a:rPr lang="es-ES" sz="2400" dirty="0"/>
              <a:t>Permiten personalizar mensajes de error.  Ejemplo: "Por favor, agregue el nombre del local".</a:t>
            </a:r>
          </a:p>
        </p:txBody>
      </p:sp>
    </p:spTree>
    <p:extLst>
      <p:ext uri="{BB962C8B-B14F-4D97-AF65-F5344CB8AC3E}">
        <p14:creationId xmlns:p14="http://schemas.microsoft.com/office/powerpoint/2010/main" val="170143508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C4D97-CE6D-5B56-8112-339F228F7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E86AF1-D61E-C6EE-DCD1-8C400F2A9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Manejo de excepciones por validaciones: activar la validación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15D8A0-B7D0-20F9-B479-97887AD927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Uso de @Valid:</a:t>
            </a:r>
          </a:p>
          <a:p>
            <a:pPr marL="0" indent="0">
              <a:buNone/>
            </a:pPr>
            <a:r>
              <a:rPr lang="es-ES" sz="2400" dirty="0"/>
              <a:t>Se coloca en el parámetro del controlador. Spring valida automáticamente los datos recibidos. Si hay errores, retorna un HTTP 400 (Bad </a:t>
            </a:r>
            <a:r>
              <a:rPr lang="es-ES" sz="2400" dirty="0" err="1"/>
              <a:t>Request</a:t>
            </a:r>
            <a:r>
              <a:rPr lang="es-ES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282382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B750F-1D56-7265-2B58-54469D25D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7F29A6-3B58-3803-B4FF-F9F84AC4B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Manejo de excepciones por validaciones: manejo global de errores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043F44E-E487-A8C3-396A-BB68136861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Se sobrescribe el manejo de excepciones de validación.</a:t>
            </a:r>
          </a:p>
          <a:p>
            <a:r>
              <a:rPr lang="es-ES" sz="2400" dirty="0"/>
              <a:t>Se extraen los errores con:</a:t>
            </a:r>
          </a:p>
          <a:p>
            <a:r>
              <a:rPr lang="es-ES" sz="2400" dirty="0"/>
              <a:t>Nombre del campo.</a:t>
            </a:r>
          </a:p>
          <a:p>
            <a:r>
              <a:rPr lang="es-ES" sz="2400" dirty="0"/>
              <a:t>Mensaje asociado.</a:t>
            </a:r>
          </a:p>
          <a:p>
            <a:pPr marL="0" indent="0">
              <a:buNone/>
            </a:pPr>
            <a:r>
              <a:rPr lang="es-ES" sz="2400" dirty="0"/>
              <a:t>Se construye una respuesta más clara para el cliente.</a:t>
            </a:r>
          </a:p>
        </p:txBody>
      </p:sp>
    </p:spTree>
    <p:extLst>
      <p:ext uri="{BB962C8B-B14F-4D97-AF65-F5344CB8AC3E}">
        <p14:creationId xmlns:p14="http://schemas.microsoft.com/office/powerpoint/2010/main" val="274455008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ACA0E-D1C6-D1DA-D258-3EDD2075B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F3D000-E360-EE0C-81F1-71DFB8DA1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Manejo de excepciones por validaciones: manejo global de errores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040DFD-723C-4C6F-32C6-E1FDCA798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Se sobrescribe el manejo de excepciones de validación.</a:t>
            </a:r>
          </a:p>
          <a:p>
            <a:r>
              <a:rPr lang="es-ES" sz="2400" dirty="0"/>
              <a:t>Se extraen los errores con:</a:t>
            </a:r>
          </a:p>
          <a:p>
            <a:r>
              <a:rPr lang="es-ES" sz="2400" dirty="0"/>
              <a:t>Nombre del campo.</a:t>
            </a:r>
          </a:p>
          <a:p>
            <a:r>
              <a:rPr lang="es-ES" sz="2400" dirty="0"/>
              <a:t>Mensaje asociado.</a:t>
            </a:r>
          </a:p>
          <a:p>
            <a:pPr marL="0" indent="0">
              <a:buNone/>
            </a:pPr>
            <a:r>
              <a:rPr lang="es-ES" sz="2400" dirty="0"/>
              <a:t>Se construye una respuesta más clara para el cliente.</a:t>
            </a:r>
          </a:p>
        </p:txBody>
      </p:sp>
    </p:spTree>
    <p:extLst>
      <p:ext uri="{BB962C8B-B14F-4D97-AF65-F5344CB8AC3E}">
        <p14:creationId xmlns:p14="http://schemas.microsoft.com/office/powerpoint/2010/main" val="365558201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53A5D-8962-9574-4DCF-52B87724D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D6544-73BD-972C-634E-990D495B5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Manejo de excepciones por validaciones: resultado final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DC3CF0A-4B0A-3C1E-C71C-07CADAC68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Campo: </a:t>
            </a:r>
          </a:p>
          <a:p>
            <a:r>
              <a:rPr lang="es-ES" sz="2400" dirty="0" err="1"/>
              <a:t>name</a:t>
            </a:r>
            <a:r>
              <a:rPr lang="es-ES" sz="2400" dirty="0"/>
              <a:t>: "Por favor agregue el nombre.“</a:t>
            </a:r>
          </a:p>
          <a:p>
            <a:r>
              <a:rPr lang="es-ES" sz="2400" dirty="0" err="1"/>
              <a:t>code</a:t>
            </a:r>
            <a:r>
              <a:rPr lang="es-ES" sz="2400" dirty="0"/>
              <a:t>: “La longitud debe estar entre 4 y 10 caracteres.“</a:t>
            </a:r>
          </a:p>
          <a:p>
            <a:pPr marL="0" indent="0">
              <a:buNone/>
            </a:pPr>
            <a:r>
              <a:rPr lang="es-ES" sz="2400" dirty="0"/>
              <a:t>Beneficio: errores comprensibles, validaciones centralizadas y </a:t>
            </a:r>
            <a:r>
              <a:rPr lang="es-ES" sz="2400" dirty="0" err="1"/>
              <a:t>APIs</a:t>
            </a:r>
            <a:r>
              <a:rPr lang="es-ES" sz="2400" dirty="0"/>
              <a:t> más robustas.</a:t>
            </a:r>
          </a:p>
        </p:txBody>
      </p:sp>
    </p:spTree>
    <p:extLst>
      <p:ext uri="{BB962C8B-B14F-4D97-AF65-F5344CB8AC3E}">
        <p14:creationId xmlns:p14="http://schemas.microsoft.com/office/powerpoint/2010/main" val="61844331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D3CD8-4D65-4A13-E56E-C6A38F8B1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A8E41F-30D4-299A-8DD4-8716568A5F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Validaciones por grupo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187621936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C2EBA-DA85-E6C3-0E64-AD4C54A8D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E82220-1BAC-233C-F4C2-DD8A044DC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Validaciones por grupo: diferencia entre @valid y @validated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D03AFF-45B2-ED29-7057-1EC1153289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ES" sz="2400" dirty="0"/>
              <a:t>@Valid</a:t>
            </a:r>
          </a:p>
          <a:p>
            <a:r>
              <a:rPr lang="es-ES" sz="2400" dirty="0"/>
              <a:t>Forma estándar de Bean </a:t>
            </a:r>
            <a:r>
              <a:rPr lang="es-ES" sz="2400" dirty="0" err="1"/>
              <a:t>Validation</a:t>
            </a:r>
            <a:r>
              <a:rPr lang="es-ES" sz="2400" dirty="0"/>
              <a:t>.</a:t>
            </a:r>
          </a:p>
          <a:p>
            <a:r>
              <a:rPr lang="es-ES" sz="2400" dirty="0"/>
              <a:t>Valida todos los </a:t>
            </a:r>
            <a:r>
              <a:rPr lang="es-ES" sz="2400" dirty="0" err="1"/>
              <a:t>constraints</a:t>
            </a:r>
            <a:r>
              <a:rPr lang="es-ES" sz="2400" dirty="0"/>
              <a:t> aplicables.</a:t>
            </a:r>
          </a:p>
          <a:p>
            <a:r>
              <a:rPr lang="es-ES" sz="2400" dirty="0"/>
              <a:t>Permite validar objetos anidados.</a:t>
            </a:r>
          </a:p>
          <a:p>
            <a:pPr marL="0" indent="0">
              <a:buNone/>
            </a:pPr>
            <a:r>
              <a:rPr lang="es-ES" sz="2400" dirty="0"/>
              <a:t>@Validated</a:t>
            </a:r>
          </a:p>
          <a:p>
            <a:pPr marL="0" indent="0">
              <a:buNone/>
            </a:pPr>
            <a:r>
              <a:rPr lang="es-ES" sz="2400" dirty="0"/>
              <a:t>Extensión proporcionada por Spring.</a:t>
            </a:r>
          </a:p>
          <a:p>
            <a:r>
              <a:rPr lang="es-ES" sz="2400" dirty="0"/>
              <a:t>Soporta validación por grupos.</a:t>
            </a:r>
          </a:p>
          <a:p>
            <a:r>
              <a:rPr lang="es-ES" sz="2400" dirty="0"/>
              <a:t>Puede utilizarse a nivel de clase, método o parámetro.</a:t>
            </a:r>
          </a:p>
        </p:txBody>
      </p:sp>
    </p:spTree>
    <p:extLst>
      <p:ext uri="{BB962C8B-B14F-4D97-AF65-F5344CB8AC3E}">
        <p14:creationId xmlns:p14="http://schemas.microsoft.com/office/powerpoint/2010/main" val="159701496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01256-8D6B-2861-B96A-103678589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34D10-0DAA-8D34-4F88-C75272ED3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Validaciones por grupo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2E2C9C-84EE-70D2-09E9-7D9137F7B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¿Para qué sirven los grupos? Permiten validar solo ciertas restricciones. Útiles en procesos de varios pasos.</a:t>
            </a:r>
          </a:p>
          <a:p>
            <a:pPr marL="0" indent="0">
              <a:buNone/>
            </a:pPr>
            <a:r>
              <a:rPr lang="es-ES" sz="2400" dirty="0"/>
              <a:t>Ejemplo:</a:t>
            </a:r>
          </a:p>
          <a:p>
            <a:r>
              <a:rPr lang="es-ES" sz="2400" dirty="0"/>
              <a:t>Grupo 1: validar nombre.</a:t>
            </a:r>
          </a:p>
          <a:p>
            <a:r>
              <a:rPr lang="es-ES" sz="2400" dirty="0"/>
              <a:t>Grupo 2: validar correo electrónico.</a:t>
            </a:r>
          </a:p>
          <a:p>
            <a:pPr marL="0" indent="0">
              <a:buNone/>
            </a:pPr>
            <a:r>
              <a:rPr lang="es-ES" sz="2400" dirty="0"/>
              <a:t>Cada grupo se define mediante interfaces.</a:t>
            </a:r>
          </a:p>
        </p:txBody>
      </p:sp>
    </p:spTree>
    <p:extLst>
      <p:ext uri="{BB962C8B-B14F-4D97-AF65-F5344CB8AC3E}">
        <p14:creationId xmlns:p14="http://schemas.microsoft.com/office/powerpoint/2010/main" val="400965801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82682-AF47-911A-E824-441312846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8A1F65-86CD-3BBC-E1C6-73967005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Validaciones por grupo: objetos anidados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7C74D2D-A24C-395F-9D86-3BA884626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Un objeto puede contener otros objetos.</a:t>
            </a:r>
          </a:p>
          <a:p>
            <a:pPr marL="0" indent="0">
              <a:buNone/>
            </a:pPr>
            <a:r>
              <a:rPr lang="es-ES" sz="2400" dirty="0"/>
              <a:t>Ejemplo: </a:t>
            </a:r>
            <a:r>
              <a:rPr lang="es-ES" sz="2400" dirty="0" err="1"/>
              <a:t>User</a:t>
            </a:r>
            <a:r>
              <a:rPr lang="es-ES" sz="2400" dirty="0"/>
              <a:t> -&gt; </a:t>
            </a:r>
            <a:r>
              <a:rPr lang="es-ES" sz="2400" dirty="0" err="1"/>
              <a:t>Address</a:t>
            </a:r>
            <a:endParaRPr lang="es-ES" sz="2400" dirty="0"/>
          </a:p>
          <a:p>
            <a:pPr marL="0" indent="0">
              <a:buNone/>
            </a:pPr>
            <a:r>
              <a:rPr lang="es-ES" sz="2400" dirty="0"/>
              <a:t>Para validar el objeto interno se utiliza @Valid sobre la propiedad anidada. Sin @Valid, las validaciones internas no se ejecutan.</a:t>
            </a:r>
          </a:p>
        </p:txBody>
      </p:sp>
    </p:spTree>
    <p:extLst>
      <p:ext uri="{BB962C8B-B14F-4D97-AF65-F5344CB8AC3E}">
        <p14:creationId xmlns:p14="http://schemas.microsoft.com/office/powerpoint/2010/main" val="5953897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24688-B585-FA95-4436-E264119AB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1B551-E91A-3334-28B1-4F8F1C63EB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Transacciones en </a:t>
            </a:r>
            <a:r>
              <a:rPr lang="es-ES" dirty="0" err="1"/>
              <a:t>spring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275069693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8F554-2068-52B0-6B48-FB1444651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C8997B-0EF6-4A9F-1918-A927A0903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Transacciones en </a:t>
            </a:r>
            <a:r>
              <a:rPr lang="es-ES" dirty="0" err="1"/>
              <a:t>spring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81046A-55E7-7C62-210E-1E055DB27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Una transacción es un conjunto de operaciones que se ejecutan como una sola unidad.</a:t>
            </a:r>
          </a:p>
          <a:p>
            <a:pPr marL="0" indent="0">
              <a:buNone/>
            </a:pPr>
            <a:r>
              <a:rPr lang="es-ES" sz="2400" dirty="0"/>
              <a:t>Debe cumplir el principio: </a:t>
            </a:r>
            <a:r>
              <a:rPr lang="es-ES" sz="2400" i="1" dirty="0"/>
              <a:t>todo o nada.</a:t>
            </a:r>
          </a:p>
          <a:p>
            <a:pPr marL="0" indent="0">
              <a:buNone/>
            </a:pPr>
            <a:r>
              <a:rPr lang="es-ES" sz="2400" dirty="0"/>
              <a:t>Si una operación falla, todas las demás se revierten.</a:t>
            </a:r>
          </a:p>
        </p:txBody>
      </p:sp>
    </p:spTree>
    <p:extLst>
      <p:ext uri="{BB962C8B-B14F-4D97-AF65-F5344CB8AC3E}">
        <p14:creationId xmlns:p14="http://schemas.microsoft.com/office/powerpoint/2010/main" val="321102373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764DE-3000-DD6A-9A8F-6D1BAECBB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3FE8FA-CB70-9CAC-484F-B27043D7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Transacciones en </a:t>
            </a:r>
            <a:r>
              <a:rPr lang="es-ES" dirty="0" err="1"/>
              <a:t>spring</a:t>
            </a:r>
            <a:r>
              <a:rPr lang="es-ES" dirty="0"/>
              <a:t>: estados consistentes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6DA29F-803D-6B46-4A38-71BD69CB7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Flujo de una transacción: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Estado consistente A.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Ejecución de varios cambios.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Estado consistente B.</a:t>
            </a:r>
          </a:p>
          <a:p>
            <a:pPr marL="0" indent="0">
              <a:buNone/>
            </a:pPr>
            <a:r>
              <a:rPr lang="es-ES" sz="2400" dirty="0"/>
              <a:t>Si un cambio falla, se ejecuta un </a:t>
            </a:r>
            <a:r>
              <a:rPr lang="es-ES" sz="2400" dirty="0" err="1"/>
              <a:t>rollback</a:t>
            </a:r>
            <a:r>
              <a:rPr lang="es-ES" sz="2400" dirty="0"/>
              <a:t>, y se regresa al estado inicial.</a:t>
            </a:r>
          </a:p>
        </p:txBody>
      </p:sp>
    </p:spTree>
    <p:extLst>
      <p:ext uri="{BB962C8B-B14F-4D97-AF65-F5344CB8AC3E}">
        <p14:creationId xmlns:p14="http://schemas.microsoft.com/office/powerpoint/2010/main" val="306921987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4964D-38B9-A0DB-C23A-46DC4C261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ED417-51A5-F1F4-DC91-77177108E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Transacciones en </a:t>
            </a:r>
            <a:r>
              <a:rPr lang="es-ES" dirty="0" err="1"/>
              <a:t>spring</a:t>
            </a:r>
            <a:r>
              <a:rPr lang="es-ES" dirty="0"/>
              <a:t>: @transactional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8D6983-1191-BD7A-CD1E-7D79AE612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Se utiliza la anotación @Transactional.</a:t>
            </a:r>
          </a:p>
          <a:p>
            <a:pPr marL="0" indent="0">
              <a:buNone/>
            </a:pPr>
            <a:r>
              <a:rPr lang="es-ES" sz="2400" dirty="0"/>
              <a:t>Agrupa múltiples operaciones dentro de una misma transacción, y garantiza consistencia de datos.</a:t>
            </a:r>
          </a:p>
          <a:p>
            <a:pPr marL="0" indent="0">
              <a:buNone/>
            </a:pPr>
            <a:r>
              <a:rPr lang="es-EC" sz="2400" dirty="0"/>
              <a:t>Beneficios: evita estados inconsistentes, permite </a:t>
            </a:r>
            <a:r>
              <a:rPr lang="es-EC" sz="2400" dirty="0" err="1"/>
              <a:t>rollback</a:t>
            </a:r>
            <a:r>
              <a:rPr lang="es-EC" sz="2400" dirty="0"/>
              <a:t> automático, y simplifica la lógica de negocio.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339849832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12AC-EE40-5446-0D9D-5D7451DE4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2885B-1C0F-7846-6396-9B65CBAF5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Transacciones en </a:t>
            </a:r>
            <a:r>
              <a:rPr lang="es-ES" dirty="0" err="1"/>
              <a:t>spring</a:t>
            </a:r>
            <a:r>
              <a:rPr lang="es-ES" dirty="0"/>
              <a:t>: @modifying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C63254-C437-3A7D-E37D-F1D65D9EE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Spring Data JPA permite actualizar y eliminar registros.</a:t>
            </a:r>
          </a:p>
          <a:p>
            <a:pPr marL="0" indent="0">
              <a:buNone/>
            </a:pPr>
            <a:r>
              <a:rPr lang="es-ES" sz="2400" dirty="0"/>
              <a:t>Estas operaciones modifican el estado de la base de datos.</a:t>
            </a:r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r>
              <a:rPr lang="es-ES" sz="2400" i="1" dirty="0"/>
              <a:t>¿Para qué sirve @Modifying? </a:t>
            </a:r>
            <a:r>
              <a:rPr lang="es-ES" sz="2400" dirty="0"/>
              <a:t>Indica que la consulta modifica datos. Se usa junto con @Query, y es aplicable en métodos del repositorio.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AAD308D-99B3-41F8-7B14-8D122688AF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9921" y="5111646"/>
            <a:ext cx="7872158" cy="55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2467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84001-E0D3-3E0A-3163-61741A6C0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A70CB-0FA0-282B-B5B5-DE94F5598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Transacciones en </a:t>
            </a:r>
            <a:r>
              <a:rPr lang="es-ES" dirty="0" err="1"/>
              <a:t>spring</a:t>
            </a:r>
            <a:r>
              <a:rPr lang="es-ES" dirty="0"/>
              <a:t>: </a:t>
            </a:r>
            <a:r>
              <a:rPr lang="es-ES" dirty="0" err="1"/>
              <a:t>transactiontemplate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806342-A95A-B868-4884-3E32A272C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Alternativa a @Transactional. Permite definir exactamente qué código pertenece a la transacción.</a:t>
            </a:r>
          </a:p>
          <a:p>
            <a:pPr marL="0" indent="0">
              <a:buNone/>
            </a:pPr>
            <a:r>
              <a:rPr lang="es-ES" sz="2400" dirty="0"/>
              <a:t>Ayuda a mantener transacciones cortas y eficientes.</a:t>
            </a:r>
          </a:p>
        </p:txBody>
      </p:sp>
    </p:spTree>
    <p:extLst>
      <p:ext uri="{BB962C8B-B14F-4D97-AF65-F5344CB8AC3E}">
        <p14:creationId xmlns:p14="http://schemas.microsoft.com/office/powerpoint/2010/main" val="4179503854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8348F-ABE9-7904-1A5E-90B2EDEB9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F2E36-E968-0A66-D289-CD84DFADF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Transacciones en </a:t>
            </a:r>
            <a:r>
              <a:rPr lang="es-ES" dirty="0" err="1"/>
              <a:t>spring</a:t>
            </a:r>
            <a:r>
              <a:rPr lang="es-ES" dirty="0"/>
              <a:t>: eventos transaccionales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0D0D46-3E9B-B5F1-7466-79D20204DC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Buenas prácticas: Evitar llamadas HTTP dentro de una transacción, y guardar primero los datos.</a:t>
            </a:r>
          </a:p>
          <a:p>
            <a:pPr marL="0" indent="0">
              <a:buNone/>
            </a:pPr>
            <a:r>
              <a:rPr lang="es-ES" sz="2400" dirty="0"/>
              <a:t>También se recomienda publicar eventos mediante: </a:t>
            </a:r>
            <a:r>
              <a:rPr lang="es-ES" sz="2400" dirty="0" err="1"/>
              <a:t>ApplicationEventPublisher</a:t>
            </a:r>
            <a:r>
              <a:rPr lang="es-ES" sz="2400" dirty="0"/>
              <a:t> y @TransactionalEventListener. Esto mejora el rendimiento y desacopla componentes.</a:t>
            </a:r>
          </a:p>
        </p:txBody>
      </p:sp>
    </p:spTree>
    <p:extLst>
      <p:ext uri="{BB962C8B-B14F-4D97-AF65-F5344CB8AC3E}">
        <p14:creationId xmlns:p14="http://schemas.microsoft.com/office/powerpoint/2010/main" val="107083737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45AEA8-F45A-B06C-5C77-73DA24A05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94271-7DD9-AEB7-5797-7D459E8E3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Transacciones en </a:t>
            </a:r>
            <a:r>
              <a:rPr lang="es-ES" dirty="0" err="1"/>
              <a:t>spring</a:t>
            </a:r>
            <a:r>
              <a:rPr lang="es-ES" dirty="0"/>
              <a:t>: eventos transaccionales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026042-8F48-774A-62D1-0FC690573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Buenas prácticas: Evitar llamadas HTTP dentro de una transacción, y guardar primero los datos.</a:t>
            </a:r>
          </a:p>
          <a:p>
            <a:pPr marL="0" indent="0">
              <a:buNone/>
            </a:pPr>
            <a:r>
              <a:rPr lang="es-ES" sz="2400" dirty="0"/>
              <a:t>También se recomienda publicar eventos mediante: </a:t>
            </a:r>
            <a:r>
              <a:rPr lang="es-ES" sz="2400" dirty="0" err="1"/>
              <a:t>ApplicationEventPublisher</a:t>
            </a:r>
            <a:r>
              <a:rPr lang="es-ES" sz="2400" dirty="0"/>
              <a:t> y @TransactionalEventListener. Esto mejora el rendimiento y desacopla componentes.</a:t>
            </a:r>
          </a:p>
        </p:txBody>
      </p:sp>
    </p:spTree>
    <p:extLst>
      <p:ext uri="{BB962C8B-B14F-4D97-AF65-F5344CB8AC3E}">
        <p14:creationId xmlns:p14="http://schemas.microsoft.com/office/powerpoint/2010/main" val="296951526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590A8-4674-EA25-8132-A1C322366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5AA48-B44B-1F0F-D6F3-76D26988C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600200"/>
            <a:ext cx="9001462" cy="2387600"/>
          </a:xfrm>
        </p:spPr>
        <p:txBody>
          <a:bodyPr>
            <a:normAutofit/>
          </a:bodyPr>
          <a:lstStyle/>
          <a:p>
            <a:r>
              <a:rPr lang="es-ES" dirty="0"/>
              <a:t>Ejecución de procedimientos</a:t>
            </a:r>
            <a:endParaRPr lang="es-EC" dirty="0"/>
          </a:p>
        </p:txBody>
      </p:sp>
    </p:spTree>
    <p:extLst>
      <p:ext uri="{BB962C8B-B14F-4D97-AF65-F5344CB8AC3E}">
        <p14:creationId xmlns:p14="http://schemas.microsoft.com/office/powerpoint/2010/main" val="427041099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0C78E-50E3-E374-8916-7812E54F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B97DD-5B42-1CD4-C874-F3271BDBB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procedimientos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D42645-97CD-C1EC-566F-09BBCD65A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i="1" dirty="0"/>
              <a:t>¿Qué es un </a:t>
            </a:r>
            <a:r>
              <a:rPr lang="es-ES" sz="2400" i="1" dirty="0" err="1"/>
              <a:t>Stored</a:t>
            </a:r>
            <a:r>
              <a:rPr lang="es-ES" sz="2400" i="1" dirty="0"/>
              <a:t> </a:t>
            </a:r>
            <a:r>
              <a:rPr lang="es-ES" sz="2400" i="1" dirty="0" err="1"/>
              <a:t>Procedure</a:t>
            </a:r>
            <a:r>
              <a:rPr lang="es-ES" sz="2400" i="1" dirty="0"/>
              <a:t>? </a:t>
            </a:r>
            <a:r>
              <a:rPr lang="es-ES" sz="2400" dirty="0"/>
              <a:t>Es un programa almacenado dentro de la base de datos. Puede recibir parámetros de entrada y salida. Permite ejecutar lógica compleja cerca de los datos.</a:t>
            </a:r>
          </a:p>
          <a:p>
            <a:pPr marL="0" indent="0">
              <a:buNone/>
            </a:pPr>
            <a:r>
              <a:rPr lang="es-ES" sz="2400" dirty="0"/>
              <a:t>Ventaja: reduce lógica repetitiva en la aplicación.</a:t>
            </a:r>
          </a:p>
        </p:txBody>
      </p:sp>
    </p:spTree>
    <p:extLst>
      <p:ext uri="{BB962C8B-B14F-4D97-AF65-F5344CB8AC3E}">
        <p14:creationId xmlns:p14="http://schemas.microsoft.com/office/powerpoint/2010/main" val="34545590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31975-79E1-1C45-FB3F-18BCE4C2F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D0A7A-C5B6-C40D-CF0D-56F455B81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procedimientos: </a:t>
            </a:r>
            <a:r>
              <a:rPr lang="es-ES" dirty="0" err="1"/>
              <a:t>storedprocedurequery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4D144DA-967D-3838-82AE-E4F08140E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400" dirty="0"/>
              <a:t>JPA utiliza StoredProcedureQuery para invocar procedimientos. Se crea mediante:</a:t>
            </a:r>
          </a:p>
          <a:p>
            <a:pPr marL="0" indent="0">
              <a:buNone/>
            </a:pPr>
            <a:r>
              <a:rPr lang="es-ES" sz="2400" dirty="0" err="1"/>
              <a:t>EntityManager.createStoredProcedureQuery</a:t>
            </a:r>
            <a:r>
              <a:rPr lang="es-ES" sz="2400" dirty="0"/>
              <a:t>()</a:t>
            </a:r>
          </a:p>
          <a:p>
            <a:pPr marL="0" indent="0">
              <a:buNone/>
            </a:pPr>
            <a:r>
              <a:rPr lang="es-ES" sz="2400" dirty="0"/>
              <a:t>Permite registrar parámetros IN y OUT.</a:t>
            </a:r>
          </a:p>
        </p:txBody>
      </p:sp>
    </p:spTree>
    <p:extLst>
      <p:ext uri="{BB962C8B-B14F-4D97-AF65-F5344CB8AC3E}">
        <p14:creationId xmlns:p14="http://schemas.microsoft.com/office/powerpoint/2010/main" val="196790146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E43A0-BBB0-2DE9-04D3-9B7FDF564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3C4313-C24A-40D2-84A8-ED5619339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procedimientos: ejemplo práctico</a:t>
            </a:r>
            <a:endParaRPr lang="es-EC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E318CB9-2D8A-D1A9-D164-BA5B0F560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1" y="1828800"/>
            <a:ext cx="9692639" cy="4351337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s-ES" sz="2400" dirty="0"/>
              <a:t>Recibe el ID de una persona.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Copia el registro a PERSON_HISTORY.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Elimina el registro de PERSON.</a:t>
            </a:r>
          </a:p>
          <a:p>
            <a:pPr marL="457200" indent="-457200">
              <a:buFont typeface="+mj-lt"/>
              <a:buAutoNum type="arabicPeriod"/>
            </a:pPr>
            <a:r>
              <a:rPr lang="es-ES" sz="2400" dirty="0"/>
              <a:t>Devuelve un estado de éxito (true/false).</a:t>
            </a:r>
          </a:p>
        </p:txBody>
      </p:sp>
    </p:spTree>
    <p:extLst>
      <p:ext uri="{BB962C8B-B14F-4D97-AF65-F5344CB8AC3E}">
        <p14:creationId xmlns:p14="http://schemas.microsoft.com/office/powerpoint/2010/main" val="34265411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Damasco</Template>
  <TotalTime>467</TotalTime>
  <Words>3319</Words>
  <Application>Microsoft Office PowerPoint</Application>
  <PresentationFormat>Panorámica</PresentationFormat>
  <Paragraphs>265</Paragraphs>
  <Slides>92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92</vt:i4>
      </vt:variant>
    </vt:vector>
  </HeadingPairs>
  <TitlesOfParts>
    <vt:vector size="96" baseType="lpstr">
      <vt:lpstr>Arial</vt:lpstr>
      <vt:lpstr>Bookman Old Style</vt:lpstr>
      <vt:lpstr>Rockwell</vt:lpstr>
      <vt:lpstr>Damask</vt:lpstr>
      <vt:lpstr>Módulo II</vt:lpstr>
      <vt:lpstr>Optional en java</vt:lpstr>
      <vt:lpstr>Optional en Java</vt:lpstr>
      <vt:lpstr>Optional en Java</vt:lpstr>
      <vt:lpstr>Optional en java</vt:lpstr>
      <vt:lpstr>Optional en java</vt:lpstr>
      <vt:lpstr>Conexión a base de datos</vt:lpstr>
      <vt:lpstr>Conexión a base de datos</vt:lpstr>
      <vt:lpstr>Conexión a base de datos</vt:lpstr>
      <vt:lpstr>Conexión a base de datos</vt:lpstr>
      <vt:lpstr>Conexión a base de datos</vt:lpstr>
      <vt:lpstr>Conexión a múltiples bases de datos</vt:lpstr>
      <vt:lpstr>Conexión a múltiples bases de datos</vt:lpstr>
      <vt:lpstr>Conexión a múltiples bases de datos</vt:lpstr>
      <vt:lpstr>Conexión a múltiples bases de datos</vt:lpstr>
      <vt:lpstr>Conexión a múltiples bases de datos</vt:lpstr>
      <vt:lpstr>Sobre orm</vt:lpstr>
      <vt:lpstr>Sobre orm</vt:lpstr>
      <vt:lpstr>Sobre orm</vt:lpstr>
      <vt:lpstr>Sobre orm</vt:lpstr>
      <vt:lpstr>Sobre orm</vt:lpstr>
      <vt:lpstr>Sobre orm</vt:lpstr>
      <vt:lpstr>Sobre pojos</vt:lpstr>
      <vt:lpstr>Sobre pojos</vt:lpstr>
      <vt:lpstr>Sobre pojos</vt:lpstr>
      <vt:lpstr>Sobre pojos</vt:lpstr>
      <vt:lpstr>Sobre pojos</vt:lpstr>
      <vt:lpstr>Sobre dto y mapstruct</vt:lpstr>
      <vt:lpstr>Sobre dto y mapstruct</vt:lpstr>
      <vt:lpstr>Sobre dto y mapstruct</vt:lpstr>
      <vt:lpstr>Sobre dto y mapstruct</vt:lpstr>
      <vt:lpstr>Sobre dto y mapstruct</vt:lpstr>
      <vt:lpstr>Creación de entidades</vt:lpstr>
      <vt:lpstr>Ceación de entidades</vt:lpstr>
      <vt:lpstr>Ceación de entidades</vt:lpstr>
      <vt:lpstr>Ceación de entidades</vt:lpstr>
      <vt:lpstr>Tipos de claves primarias</vt:lpstr>
      <vt:lpstr>Tipos de clases primarias</vt:lpstr>
      <vt:lpstr>Tipos de clases primarias</vt:lpstr>
      <vt:lpstr>Tipos de clases primarias</vt:lpstr>
      <vt:lpstr>Tipos de relaciones entre tablas-entidades</vt:lpstr>
      <vt:lpstr>Tipos de relaciones entre tablas-entidades</vt:lpstr>
      <vt:lpstr>Tipos de relaciones entre tablas-entidades</vt:lpstr>
      <vt:lpstr>Tipos de relaciones entre tablas-entidades</vt:lpstr>
      <vt:lpstr>Creación de repositorios</vt:lpstr>
      <vt:lpstr>Creación de repositorios</vt:lpstr>
      <vt:lpstr>Creación de repositorios</vt:lpstr>
      <vt:lpstr>Sobre crudrepository</vt:lpstr>
      <vt:lpstr>Sobre crudrepository</vt:lpstr>
      <vt:lpstr>Sobre crudrepository</vt:lpstr>
      <vt:lpstr>Sobre crudrepository</vt:lpstr>
      <vt:lpstr>Query methods</vt:lpstr>
      <vt:lpstr>Query methods</vt:lpstr>
      <vt:lpstr>Query methods</vt:lpstr>
      <vt:lpstr>Query methods</vt:lpstr>
      <vt:lpstr>Paginación</vt:lpstr>
      <vt:lpstr>paginación</vt:lpstr>
      <vt:lpstr>Paginación: información útil de una página</vt:lpstr>
      <vt:lpstr>Paginación: ordenamiento</vt:lpstr>
      <vt:lpstr>Paginación + filtros</vt:lpstr>
      <vt:lpstr>Búsquedas en spring data jpa</vt:lpstr>
      <vt:lpstr>Búsquedas en spring data jpa</vt:lpstr>
      <vt:lpstr>Búsquedas en spring data jpa: query nativa</vt:lpstr>
      <vt:lpstr>Búsquedas en spring data jpa: jpql</vt:lpstr>
      <vt:lpstr>Búsquedas en spring data jpa: búsquedas parciales e ignore case</vt:lpstr>
      <vt:lpstr>Campos de auditoría</vt:lpstr>
      <vt:lpstr>Campos de auditoría</vt:lpstr>
      <vt:lpstr>Campos de auditoría: callbacks de jpa</vt:lpstr>
      <vt:lpstr>Validaciones y manejo de excepciones</vt:lpstr>
      <vt:lpstr>Manejo de excepciones por validaciones</vt:lpstr>
      <vt:lpstr>Manejo de excepciones por validaciones: dependencia de validación</vt:lpstr>
      <vt:lpstr>Manejo de excepciones por validaciones: validaciones en la entidad</vt:lpstr>
      <vt:lpstr>Manejo de excepciones por validaciones: activar la validación</vt:lpstr>
      <vt:lpstr>Manejo de excepciones por validaciones: manejo global de errores</vt:lpstr>
      <vt:lpstr>Manejo de excepciones por validaciones: manejo global de errores</vt:lpstr>
      <vt:lpstr>Manejo de excepciones por validaciones: resultado final</vt:lpstr>
      <vt:lpstr>Validaciones por grupo</vt:lpstr>
      <vt:lpstr>Validaciones por grupo: diferencia entre @valid y @validated</vt:lpstr>
      <vt:lpstr>Validaciones por grupo</vt:lpstr>
      <vt:lpstr>Validaciones por grupo: objetos anidados</vt:lpstr>
      <vt:lpstr>Transacciones en spring</vt:lpstr>
      <vt:lpstr>Transacciones en spring</vt:lpstr>
      <vt:lpstr>Transacciones en spring: estados consistentes</vt:lpstr>
      <vt:lpstr>Transacciones en spring: @transactional</vt:lpstr>
      <vt:lpstr>Transacciones en spring: @modifying</vt:lpstr>
      <vt:lpstr>Transacciones en spring: transactiontemplate</vt:lpstr>
      <vt:lpstr>Transacciones en spring: eventos transaccionales</vt:lpstr>
      <vt:lpstr>Transacciones en spring: eventos transaccionales</vt:lpstr>
      <vt:lpstr>Ejecución de procedimientos</vt:lpstr>
      <vt:lpstr>Ejecución de procedimientos</vt:lpstr>
      <vt:lpstr>Ejecución de procedimientos: storedprocedurequery</vt:lpstr>
      <vt:lpstr>Ejecución de procedimientos: ejemplo práctico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Bryantcore3</dc:creator>
  <cp:lastModifiedBy>Bryantcore3</cp:lastModifiedBy>
  <cp:revision>8</cp:revision>
  <dcterms:created xsi:type="dcterms:W3CDTF">2026-06-12T06:07:17Z</dcterms:created>
  <dcterms:modified xsi:type="dcterms:W3CDTF">2026-06-15T05:13:53Z</dcterms:modified>
</cp:coreProperties>
</file>